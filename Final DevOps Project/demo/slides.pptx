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numbers, not an agenda. Every one of those four is checked by the pipeline, not asserted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verbs. Everything interesting is the delivery system around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paths worth reading separately: how a commit becomes a running image, and how a request reaches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unexotic. The claim is integration, not novelty.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health/ready split is the one design decision here worth narrating.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Dockerfiles are where the first Trivy failure was actually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3 is the one that matters: it proves the chain end to end, not that helm exited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ignore-unfixed. It is the difference between a gate engineers respect and one they disable.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checksum annotation separates a chart that works from one that looks like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Annotation discovery is the point: nobody edits a scrape config when the HPA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this as a mistake found and corrected. More convincing than a clean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were diagnosed from the cluster, not from memory of what had been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four things that only showed up by running the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700" b="1" spc="-90" kern="0" dirty="0">
                <a:solidFill>
                  <a:srgbClr val="14191B"/>
                </a:solidFill>
              </a:defRPr>
            </a:lvl1pPr>
          </a:lstStyle>
          <a:p>
            <a:pPr algn="l" indent="0" marL="0">
              <a:buNone/>
            </a:pPr>
            <a:endParaRPr lang="en-US" sz="3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LD">
    <p:bg>
      <p:bgPr>
        <a:solidFill>
          <a:srgbClr val="1419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ERT">
    <p:bg>
      <p:bgPr>
        <a:solidFill>
          <a:srgbClr val="B0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6000" b="1" spc="-220" kern="0" dirty="0">
                <a:solidFill>
                  <a:srgbClr val="FFFFFF"/>
                </a:solidFill>
              </a:rPr>
              <a:t>Issue Tracker,</a:t>
            </a:r>
            <a:endParaRPr lang="en-US" sz="60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6000" b="1" spc="-220" kern="0" dirty="0">
                <a:solidFill>
                  <a:srgbClr val="FFFFFF"/>
                </a:solidFill>
              </a:rPr>
              <a:t>end to end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6BD"/>
                </a:solidFill>
              </a:rPr>
              <a:t>A three-tier application carried from a laptop to a monitored Kubernetes deployment, and the delivery system built around it.</a:t>
            </a:r>
            <a:endParaRPr lang="en-US" sz="1500" dirty="0"/>
          </a:p>
        </p:txBody>
      </p:sp>
      <p:sp>
        <p:nvSpPr>
          <p:cNvPr id="4" name="r0.8-5.25"/>
          <p:cNvSpPr/>
          <p:nvPr/>
        </p:nvSpPr>
        <p:spPr>
          <a:xfrm>
            <a:off x="731520" y="4800600"/>
            <a:ext cx="10698480" cy="12802"/>
          </a:xfrm>
          <a:prstGeom prst="rect">
            <a:avLst/>
          </a:prstGeom>
          <a:solidFill>
            <a:srgbClr val="2C3A42"/>
          </a:solidFill>
          <a:ln w="12700">
            <a:solidFill>
              <a:srgbClr val="2C3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9834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</a:rPr>
              <a:t>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7C949C"/>
                </a:solidFill>
              </a:rPr>
              <a:t>CI JOBS GREEN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49834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</a:rPr>
              <a:t>8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5669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7C949C"/>
                </a:solidFill>
              </a:rPr>
              <a:t>TESTS PASSING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49834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</a:rPr>
              <a:t>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5669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7C949C"/>
                </a:solidFill>
              </a:rPr>
              <a:t>FIXABLE CVES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49834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FFFFFF"/>
                </a:solidFill>
              </a:rPr>
              <a:t>2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5669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7C949C"/>
                </a:solidFill>
              </a:rPr>
              <a:t>IMAGES SHIPPED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6199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FB6BD"/>
                </a:solidFill>
              </a:rPr>
              <a:t>Rajveer Bishnoi   ·   24BCS10404   ·   Roll 10404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What it is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700" b="1" spc="-90" kern="0" dirty="0">
                <a:solidFill>
                  <a:srgbClr val="14191B"/>
                </a:solidFill>
              </a:rPr>
              <a:t>The application is deliberately small so the system around it can be the subject.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861"/>
                </a:solidFill>
              </a:rPr>
              <a:t>An issue has a title, a priority and an assignee, and moves through open, in progress and done. That is the whole feature set.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861"/>
                </a:solidFill>
              </a:rPr>
              <a:t>Everything the capstone is about — containers, CI, scanning, Helm, autoscaling, metrics, GitOps — wraps around those four verbs.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4813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BOARD CENSUS, LIVE</a:t>
            </a:r>
            <a:endParaRPr lang="en-US" sz="1000" dirty="0"/>
          </a:p>
        </p:txBody>
      </p:sp>
      <p:sp>
        <p:nvSpPr>
          <p:cNvPr id="7" name="r7.8-1.92"/>
          <p:cNvSpPr/>
          <p:nvPr/>
        </p:nvSpPr>
        <p:spPr>
          <a:xfrm>
            <a:off x="7132320" y="1755648"/>
            <a:ext cx="4297680" cy="12802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1"/>
                </a:solidFill>
              </a:rPr>
              <a:t>Census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8755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spc="-50" kern="0" dirty="0">
                <a:solidFill>
                  <a:srgbClr val="14191B"/>
                </a:solidFill>
              </a:rPr>
              <a:t>5</a:t>
            </a:r>
            <a:endParaRPr lang="en-US" sz="2400" dirty="0"/>
          </a:p>
        </p:txBody>
      </p:sp>
      <p:sp>
        <p:nvSpPr>
          <p:cNvPr id="10" name="r7.8-2.57"/>
          <p:cNvSpPr/>
          <p:nvPr/>
        </p:nvSpPr>
        <p:spPr>
          <a:xfrm>
            <a:off x="7132320" y="2350008"/>
            <a:ext cx="42976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441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1"/>
                </a:solidFill>
              </a:rPr>
              <a:t>Open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0" y="24414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spc="-50" kern="0" dirty="0">
                <a:solidFill>
                  <a:srgbClr val="14191B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r7.8-3.19"/>
          <p:cNvSpPr/>
          <p:nvPr/>
        </p:nvSpPr>
        <p:spPr>
          <a:xfrm>
            <a:off x="7132320" y="2916936"/>
            <a:ext cx="42976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3008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1"/>
                </a:solidFill>
              </a:rPr>
              <a:t>In progress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30083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spc="-50" kern="0" dirty="0">
                <a:solidFill>
                  <a:srgbClr val="14191B"/>
                </a:solidFill>
              </a:rPr>
              <a:t>1</a:t>
            </a:r>
            <a:endParaRPr lang="en-US" sz="2400" dirty="0"/>
          </a:p>
        </p:txBody>
      </p:sp>
      <p:sp>
        <p:nvSpPr>
          <p:cNvPr id="16" name="r7.8-3.81"/>
          <p:cNvSpPr/>
          <p:nvPr/>
        </p:nvSpPr>
        <p:spPr>
          <a:xfrm>
            <a:off x="7132320" y="3483864"/>
            <a:ext cx="42976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3575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1"/>
                </a:solidFill>
              </a:rPr>
              <a:t>Done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75520" y="35753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spc="-50" kern="0" dirty="0">
                <a:solidFill>
                  <a:srgbClr val="14191B"/>
                </a:solidFill>
              </a:rPr>
              <a:t>1</a:t>
            </a:r>
            <a:endParaRPr lang="en-US" sz="2400" dirty="0"/>
          </a:p>
        </p:txBody>
      </p:sp>
      <p:sp>
        <p:nvSpPr>
          <p:cNvPr id="19" name="r7.8-4.43"/>
          <p:cNvSpPr/>
          <p:nvPr/>
        </p:nvSpPr>
        <p:spPr>
          <a:xfrm>
            <a:off x="7132320" y="4050792"/>
            <a:ext cx="42976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4142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1425"/>
                </a:solidFill>
              </a:rPr>
              <a:t>Open · acuity 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4142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spc="-50" kern="0" dirty="0">
                <a:solidFill>
                  <a:srgbClr val="B01425"/>
                </a:solidFill>
              </a:rPr>
              <a:t>2</a:t>
            </a:r>
            <a:endParaRPr lang="en-US" sz="2400" dirty="0"/>
          </a:p>
        </p:txBody>
      </p:sp>
      <p:sp>
        <p:nvSpPr>
          <p:cNvPr id="22" name="r7.8-5.049999999999999"/>
          <p:cNvSpPr/>
          <p:nvPr/>
        </p:nvSpPr>
        <p:spPr>
          <a:xfrm>
            <a:off x="7132320" y="4617720"/>
            <a:ext cx="42976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Architecture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DELIVERY PATH</a:t>
            </a:r>
            <a:endParaRPr lang="en-US" sz="1000" dirty="0"/>
          </a:p>
        </p:txBody>
      </p:sp>
      <p:sp>
        <p:nvSpPr>
          <p:cNvPr id="5" name="n0.8-1.98"/>
          <p:cNvSpPr/>
          <p:nvPr/>
        </p:nvSpPr>
        <p:spPr>
          <a:xfrm>
            <a:off x="731520" y="1810512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91B"/>
                </a:solidFill>
              </a:rPr>
              <a:t>Developer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91B"/>
                </a:solidFill>
              </a:rPr>
              <a:t>git push</a:t>
            </a:r>
            <a:endParaRPr lang="en-US" sz="900" dirty="0"/>
          </a:p>
        </p:txBody>
      </p:sp>
      <p:sp>
        <p:nvSpPr>
          <p:cNvPr id="8" name="r2.8-2.37"/>
          <p:cNvSpPr/>
          <p:nvPr/>
        </p:nvSpPr>
        <p:spPr>
          <a:xfrm>
            <a:off x="2560320" y="2167128"/>
            <a:ext cx="384048" cy="10973"/>
          </a:xfrm>
          <a:prstGeom prst="rect">
            <a:avLst/>
          </a:prstGeom>
          <a:solidFill>
            <a:srgbClr val="9DAEB3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9" name="n3.2199999999999998-1.98"/>
          <p:cNvSpPr/>
          <p:nvPr/>
        </p:nvSpPr>
        <p:spPr>
          <a:xfrm>
            <a:off x="2944368" y="1810512"/>
            <a:ext cx="2103120" cy="713232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35808" y="1901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 Actions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test · scan · push</a:t>
            </a:r>
            <a:endParaRPr lang="en-US" sz="900" dirty="0"/>
          </a:p>
        </p:txBody>
      </p:sp>
      <p:sp>
        <p:nvSpPr>
          <p:cNvPr id="12" name="r5.52-2.37"/>
          <p:cNvSpPr/>
          <p:nvPr/>
        </p:nvSpPr>
        <p:spPr>
          <a:xfrm>
            <a:off x="5047488" y="2167128"/>
            <a:ext cx="384048" cy="10973"/>
          </a:xfrm>
          <a:prstGeom prst="rect">
            <a:avLst/>
          </a:prstGeom>
          <a:solidFill>
            <a:srgbClr val="9DAEB3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13" name="n5.9399999999999995-1.98"/>
          <p:cNvSpPr/>
          <p:nvPr/>
        </p:nvSpPr>
        <p:spPr>
          <a:xfrm>
            <a:off x="5431536" y="1810512"/>
            <a:ext cx="1920240" cy="713232"/>
          </a:xfrm>
          <a:prstGeom prst="rect">
            <a:avLst/>
          </a:prstGeom>
          <a:solidFill>
            <a:srgbClr val="255A62"/>
          </a:solidFill>
          <a:ln w="12700">
            <a:solidFill>
              <a:srgbClr val="255A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22976" y="1901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GHCR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522976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image per SHA</a:t>
            </a:r>
            <a:endParaRPr lang="en-US" sz="900" dirty="0"/>
          </a:p>
        </p:txBody>
      </p:sp>
      <p:sp>
        <p:nvSpPr>
          <p:cNvPr id="16" name="r8.040000000000001-2.37"/>
          <p:cNvSpPr/>
          <p:nvPr/>
        </p:nvSpPr>
        <p:spPr>
          <a:xfrm>
            <a:off x="7351776" y="2167128"/>
            <a:ext cx="384048" cy="10973"/>
          </a:xfrm>
          <a:prstGeom prst="rect">
            <a:avLst/>
          </a:prstGeom>
          <a:solidFill>
            <a:srgbClr val="9DAEB3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17" name="n8.46-1.98"/>
          <p:cNvSpPr/>
          <p:nvPr/>
        </p:nvSpPr>
        <p:spPr>
          <a:xfrm>
            <a:off x="7735824" y="1810512"/>
            <a:ext cx="2011680" cy="713232"/>
          </a:xfrm>
          <a:prstGeom prst="rect">
            <a:avLst/>
          </a:prstGeom>
          <a:solidFill>
            <a:srgbClr val="1F5739"/>
          </a:solidFill>
          <a:ln w="12700">
            <a:solidFill>
              <a:srgbClr val="1F573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27264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Argo CD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27264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syncs the chart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29260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RUNTIME, INSIDE THE CLUSTER</a:t>
            </a:r>
            <a:endParaRPr lang="en-US" sz="1000" dirty="0"/>
          </a:p>
        </p:txBody>
      </p:sp>
      <p:sp>
        <p:nvSpPr>
          <p:cNvPr id="21" name="n0.8-3.56"/>
          <p:cNvSpPr/>
          <p:nvPr/>
        </p:nvSpPr>
        <p:spPr>
          <a:xfrm>
            <a:off x="731520" y="3255264"/>
            <a:ext cx="1828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91B"/>
                </a:solidFill>
              </a:rPr>
              <a:t>Ingress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621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91B"/>
                </a:solidFill>
              </a:rPr>
              <a:t>tracker.local</a:t>
            </a:r>
            <a:endParaRPr lang="en-US" sz="900" dirty="0"/>
          </a:p>
        </p:txBody>
      </p:sp>
      <p:sp>
        <p:nvSpPr>
          <p:cNvPr id="24" name="r2.8-3.95"/>
          <p:cNvSpPr/>
          <p:nvPr/>
        </p:nvSpPr>
        <p:spPr>
          <a:xfrm>
            <a:off x="2560320" y="3611880"/>
            <a:ext cx="384048" cy="10973"/>
          </a:xfrm>
          <a:prstGeom prst="rect">
            <a:avLst/>
          </a:prstGeom>
          <a:solidFill>
            <a:srgbClr val="9DAEB3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25" name="n3.2199999999999998-3.56"/>
          <p:cNvSpPr/>
          <p:nvPr/>
        </p:nvSpPr>
        <p:spPr>
          <a:xfrm>
            <a:off x="2944368" y="3255264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35808" y="33467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91B"/>
                </a:solidFill>
              </a:rPr>
              <a:t>frontend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35808" y="36210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91B"/>
                </a:solidFill>
              </a:rPr>
              <a:t>nginx</a:t>
            </a:r>
            <a:endParaRPr lang="en-US" sz="900" dirty="0"/>
          </a:p>
        </p:txBody>
      </p:sp>
      <p:sp>
        <p:nvSpPr>
          <p:cNvPr id="28" name="r5.52-3.95"/>
          <p:cNvSpPr/>
          <p:nvPr/>
        </p:nvSpPr>
        <p:spPr>
          <a:xfrm>
            <a:off x="5047488" y="3611880"/>
            <a:ext cx="384048" cy="10973"/>
          </a:xfrm>
          <a:prstGeom prst="rect">
            <a:avLst/>
          </a:prstGeom>
          <a:solidFill>
            <a:srgbClr val="9DAEB3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29" name="n5.9399999999999995-3.56"/>
          <p:cNvSpPr/>
          <p:nvPr/>
        </p:nvSpPr>
        <p:spPr>
          <a:xfrm>
            <a:off x="5431536" y="3255264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22976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91B"/>
                </a:solidFill>
              </a:rPr>
              <a:t>backend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522976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91B"/>
                </a:solidFill>
              </a:rPr>
              <a:t>FastAPI · HPA 2-5</a:t>
            </a:r>
            <a:endParaRPr lang="en-US" sz="900" dirty="0"/>
          </a:p>
        </p:txBody>
      </p:sp>
      <p:sp>
        <p:nvSpPr>
          <p:cNvPr id="32" name="r8.040000000000001-3.95"/>
          <p:cNvSpPr/>
          <p:nvPr/>
        </p:nvSpPr>
        <p:spPr>
          <a:xfrm>
            <a:off x="7351776" y="3611880"/>
            <a:ext cx="384048" cy="10973"/>
          </a:xfrm>
          <a:prstGeom prst="rect">
            <a:avLst/>
          </a:prstGeom>
          <a:solidFill>
            <a:srgbClr val="9DAEB3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33" name="n8.46-3.56"/>
          <p:cNvSpPr/>
          <p:nvPr/>
        </p:nvSpPr>
        <p:spPr>
          <a:xfrm>
            <a:off x="7735824" y="3255264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27264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91B"/>
                </a:solidFill>
              </a:rPr>
              <a:t>postgres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827264" y="3621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191B"/>
                </a:solidFill>
              </a:rPr>
              <a:t>StatefulSet + PVC</a:t>
            </a:r>
            <a:endParaRPr lang="en-US" sz="900" dirty="0"/>
          </a:p>
        </p:txBody>
      </p:sp>
      <p:sp>
        <p:nvSpPr>
          <p:cNvPr id="36" name="r0.8-4.75"/>
          <p:cNvSpPr/>
          <p:nvPr/>
        </p:nvSpPr>
        <p:spPr>
          <a:xfrm>
            <a:off x="731520" y="4343400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45262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1"/>
                </a:solidFill>
              </a:rPr>
              <a:t>Prometheus discovers backend Pods by annotation, so a replica the autoscaler adds is scraped within one interval.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4526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1"/>
                </a:solidFill>
              </a:rPr>
              <a:t>The Ingress is the only way in. postgres has no Service outside the namespace and no NodePort.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Stack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LAYER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PRINCIPAL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4813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SUPPORTING</a:t>
            </a:r>
            <a:endParaRPr lang="en-US" sz="1000" dirty="0"/>
          </a:p>
        </p:txBody>
      </p:sp>
      <p:sp>
        <p:nvSpPr>
          <p:cNvPr id="7" name="r0.8-1.92"/>
          <p:cNvSpPr/>
          <p:nvPr/>
        </p:nvSpPr>
        <p:spPr>
          <a:xfrm>
            <a:off x="731520" y="1755648"/>
            <a:ext cx="10698480" cy="7315"/>
          </a:xfrm>
          <a:prstGeom prst="rect">
            <a:avLst/>
          </a:prstGeom>
          <a:solidFill>
            <a:srgbClr val="9DAEB3"/>
          </a:solidFill>
          <a:ln w="12700">
            <a:solidFill>
              <a:srgbClr val="9DAEB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019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4191B"/>
                </a:solidFill>
              </a:rPr>
              <a:t>Application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9019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91B"/>
                </a:solidFill>
              </a:rPr>
              <a:t>React 18 · Vite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90195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6"/>
                </a:solidFill>
              </a:rPr>
              <a:t>FastAPI · SQLAlchemy 2 · Alembic · PostgreSQL 16</a:t>
            </a:r>
            <a:endParaRPr lang="en-US" sz="1150" dirty="0"/>
          </a:p>
        </p:txBody>
      </p:sp>
      <p:sp>
        <p:nvSpPr>
          <p:cNvPr id="11" name="r0.8-2.72"/>
          <p:cNvSpPr/>
          <p:nvPr/>
        </p:nvSpPr>
        <p:spPr>
          <a:xfrm>
            <a:off x="731520" y="2487168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4191B"/>
                </a:solidFill>
              </a:rPr>
              <a:t>Containers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91B"/>
                </a:solidFill>
              </a:rPr>
              <a:t>Multi-stage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6517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6"/>
                </a:solidFill>
              </a:rPr>
              <a:t>non-root UIDs · nginx-unprivileged · Docker Compose</a:t>
            </a:r>
            <a:endParaRPr lang="en-US" sz="1150" dirty="0"/>
          </a:p>
        </p:txBody>
      </p:sp>
      <p:sp>
        <p:nvSpPr>
          <p:cNvPr id="15" name="r0.8-3.54"/>
          <p:cNvSpPr/>
          <p:nvPr/>
        </p:nvSpPr>
        <p:spPr>
          <a:xfrm>
            <a:off x="731520" y="3236976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401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4191B"/>
                </a:solidFill>
              </a:rPr>
              <a:t>Pipeline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4015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91B"/>
                </a:solidFill>
              </a:rPr>
              <a:t>GitHub Actions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4015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6"/>
                </a:solidFill>
              </a:rPr>
              <a:t>GHCR · Trivy · Helm · kind inside the runner</a:t>
            </a:r>
            <a:endParaRPr lang="en-US" sz="1150" dirty="0"/>
          </a:p>
        </p:txBody>
      </p:sp>
      <p:sp>
        <p:nvSpPr>
          <p:cNvPr id="19" name="r0.8-4.359999999999999"/>
          <p:cNvSpPr/>
          <p:nvPr/>
        </p:nvSpPr>
        <p:spPr>
          <a:xfrm>
            <a:off x="731520" y="3986784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1513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4191B"/>
                </a:solidFill>
              </a:rPr>
              <a:t>Cluster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41513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91B"/>
                </a:solidFill>
              </a:rPr>
              <a:t>Minikube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1513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6"/>
                </a:solidFill>
              </a:rPr>
              <a:t>ingress-nginx · metrics-server · one chart, three value files</a:t>
            </a:r>
            <a:endParaRPr lang="en-US" sz="1150" dirty="0"/>
          </a:p>
        </p:txBody>
      </p:sp>
      <p:sp>
        <p:nvSpPr>
          <p:cNvPr id="23" name="r0.8-5.18"/>
          <p:cNvSpPr/>
          <p:nvPr/>
        </p:nvSpPr>
        <p:spPr>
          <a:xfrm>
            <a:off x="731520" y="4736592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9011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30" kern="0" dirty="0">
                <a:solidFill>
                  <a:srgbClr val="14191B"/>
                </a:solidFill>
              </a:rPr>
              <a:t>Operations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4901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91B"/>
                </a:solidFill>
              </a:rPr>
              <a:t>Prometheus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490118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6"/>
                </a:solidFill>
              </a:rPr>
              <a:t>Grafana · alert rules · Argo CD · Terraform for the network</a:t>
            </a:r>
            <a:endParaRPr lang="en-US" sz="1150" dirty="0"/>
          </a:p>
        </p:txBody>
      </p:sp>
      <p:sp>
        <p:nvSpPr>
          <p:cNvPr id="27" name="r0.8-5.999999999999999"/>
          <p:cNvSpPr/>
          <p:nvPr/>
        </p:nvSpPr>
        <p:spPr>
          <a:xfrm>
            <a:off x="731520" y="5486400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E76"/>
                </a:solidFill>
              </a:rPr>
              <a:t>Nothing exotic. The claim is that these fit together and were run, not that any one of them is clever.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The API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r0.8-1.72"/>
          <p:cNvSpPr/>
          <p:nvPr/>
        </p:nvSpPr>
        <p:spPr>
          <a:xfrm>
            <a:off x="731520" y="1572768"/>
            <a:ext cx="6492240" cy="12802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8249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55A62"/>
                </a:solidFill>
              </a:rPr>
              <a:t>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82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682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liveness · no dependencies</a:t>
            </a:r>
            <a:endParaRPr lang="en-US" sz="1150" dirty="0"/>
          </a:p>
        </p:txBody>
      </p:sp>
      <p:sp>
        <p:nvSpPr>
          <p:cNvPr id="8" name="r0.8-2.24"/>
          <p:cNvSpPr/>
          <p:nvPr/>
        </p:nvSpPr>
        <p:spPr>
          <a:xfrm>
            <a:off x="731520" y="2048256"/>
            <a:ext cx="64922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11226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55A62"/>
                </a:solidFill>
              </a:rPr>
              <a:t>GET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1122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/ready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112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readiness · checks the database</a:t>
            </a:r>
            <a:endParaRPr lang="en-US" sz="1150" dirty="0"/>
          </a:p>
        </p:txBody>
      </p:sp>
      <p:sp>
        <p:nvSpPr>
          <p:cNvPr id="12" name="r0.8-2.71"/>
          <p:cNvSpPr/>
          <p:nvPr/>
        </p:nvSpPr>
        <p:spPr>
          <a:xfrm>
            <a:off x="731520" y="2478024"/>
            <a:ext cx="64922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4203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55A62"/>
                </a:solidFill>
              </a:rPr>
              <a:t>GET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2542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542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Prometheus exposition</a:t>
            </a:r>
            <a:endParaRPr lang="en-US" sz="1150" dirty="0"/>
          </a:p>
        </p:txBody>
      </p:sp>
      <p:sp>
        <p:nvSpPr>
          <p:cNvPr id="16" name="r0.8-3.18"/>
          <p:cNvSpPr/>
          <p:nvPr/>
        </p:nvSpPr>
        <p:spPr>
          <a:xfrm>
            <a:off x="731520" y="2907792"/>
            <a:ext cx="64922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97180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A5861"/>
                </a:solidFill>
              </a:rPr>
              <a:t>GET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2971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/api/issues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list, filterable</a:t>
            </a:r>
            <a:endParaRPr lang="en-US" sz="1150" dirty="0"/>
          </a:p>
        </p:txBody>
      </p:sp>
      <p:sp>
        <p:nvSpPr>
          <p:cNvPr id="20" name="r0.8-3.65"/>
          <p:cNvSpPr/>
          <p:nvPr/>
        </p:nvSpPr>
        <p:spPr>
          <a:xfrm>
            <a:off x="731520" y="3337560"/>
            <a:ext cx="64922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015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A5861"/>
                </a:solidFill>
              </a:rPr>
              <a:t>GET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3401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/api/issues/stats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401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counts by status and priority</a:t>
            </a:r>
            <a:endParaRPr lang="en-US" sz="1150" dirty="0"/>
          </a:p>
        </p:txBody>
      </p:sp>
      <p:sp>
        <p:nvSpPr>
          <p:cNvPr id="24" name="r0.8-4.12"/>
          <p:cNvSpPr/>
          <p:nvPr/>
        </p:nvSpPr>
        <p:spPr>
          <a:xfrm>
            <a:off x="731520" y="3767328"/>
            <a:ext cx="64922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83133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A5861"/>
                </a:solidFill>
              </a:rPr>
              <a:t>POST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38313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/api/issues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create · validates priority</a:t>
            </a:r>
            <a:endParaRPr lang="en-US" sz="1150" dirty="0"/>
          </a:p>
        </p:txBody>
      </p:sp>
      <p:sp>
        <p:nvSpPr>
          <p:cNvPr id="28" name="r0.8-4.59"/>
          <p:cNvSpPr/>
          <p:nvPr/>
        </p:nvSpPr>
        <p:spPr>
          <a:xfrm>
            <a:off x="731520" y="4197096"/>
            <a:ext cx="64922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26110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A5861"/>
                </a:solidFill>
              </a:rPr>
              <a:t>PUT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645920" y="4261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/api/issues/{id}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023360" y="4261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update</a:t>
            </a:r>
            <a:endParaRPr lang="en-US" sz="1150" dirty="0"/>
          </a:p>
        </p:txBody>
      </p:sp>
      <p:sp>
        <p:nvSpPr>
          <p:cNvPr id="32" name="r0.8-5.0600000000000005"/>
          <p:cNvSpPr/>
          <p:nvPr/>
        </p:nvSpPr>
        <p:spPr>
          <a:xfrm>
            <a:off x="731520" y="4626864"/>
            <a:ext cx="64922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69087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4A5861"/>
                </a:solidFill>
              </a:rPr>
              <a:t>DELETE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645920" y="4690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/api/issues/{id}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46908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delete</a:t>
            </a:r>
            <a:endParaRPr lang="en-US" sz="1150" dirty="0"/>
          </a:p>
        </p:txBody>
      </p:sp>
      <p:sp>
        <p:nvSpPr>
          <p:cNvPr id="36" name="r0.8-5.53"/>
          <p:cNvSpPr/>
          <p:nvPr/>
        </p:nvSpPr>
        <p:spPr>
          <a:xfrm>
            <a:off x="731520" y="5056632"/>
            <a:ext cx="64922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37" name="r8.700000000000001-1.72"/>
          <p:cNvSpPr/>
          <p:nvPr/>
        </p:nvSpPr>
        <p:spPr>
          <a:xfrm>
            <a:off x="7955280" y="1572768"/>
            <a:ext cx="18288" cy="3657600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21040" y="16459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b="1" spc="-50" kern="0" dirty="0">
                <a:solidFill>
                  <a:srgbClr val="14191B"/>
                </a:solidFill>
              </a:rPr>
              <a:t>A liveness probe that queried the database would restart a healthy Pod every time the database blinked.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8321040" y="32918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1"/>
                </a:solidFill>
              </a:rPr>
              <a:t>So /health answers from the process alone and /ready is the one that touches the database. The Pod leaves the Service instead of being killed.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1"/>
                </a:solidFill>
              </a:rPr>
              <a:t>That is what turned a bad config change into a stuck rollout rather than an outage.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Containers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p0.8-1.68"/>
          <p:cNvSpPr/>
          <p:nvPr/>
        </p:nvSpPr>
        <p:spPr>
          <a:xfrm>
            <a:off x="731520" y="1536192"/>
            <a:ext cx="6858000" cy="2286000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64208"/>
            <a:ext cx="64922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7C9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frontend: the toolchain never reaches the runtime image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 AS build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nginxinc/nginx-unprivileged:1.29-alpine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apk upgrade --no-cache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7C9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backend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 AS deps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update &amp;&amp; apt-get upgrade -y</a:t>
            </a:r>
            <a:endParaRPr lang="en-US" sz="1050" dirty="0"/>
          </a:p>
        </p:txBody>
      </p:sp>
      <p:sp>
        <p:nvSpPr>
          <p:cNvPr id="6" name="p0.8-4.4"/>
          <p:cNvSpPr/>
          <p:nvPr/>
        </p:nvSpPr>
        <p:spPr>
          <a:xfrm>
            <a:off x="731520" y="4023360"/>
            <a:ext cx="6858000" cy="1417320"/>
          </a:xfrm>
          <a:prstGeom prst="rect">
            <a:avLst/>
          </a:prstGeom>
          <a:solidFill>
            <a:srgbClr val="1E2A30"/>
          </a:solidFill>
          <a:ln w="12700">
            <a:solidFill>
              <a:srgbClr val="1E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151376"/>
            <a:ext cx="64922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B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-d --build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tracker-db        healthy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tracker-backend   started   alembic upgrade head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tracker-frontend  started   nginx proxies /api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5727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14191B"/>
                </a:solidFill>
              </a:rPr>
              <a:t>Multi-stage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90195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Node builds the bundle; nginx ships it. The compiler is not in the image that runs.</a:t>
            </a:r>
            <a:endParaRPr lang="en-US" sz="1200" dirty="0"/>
          </a:p>
        </p:txBody>
      </p:sp>
      <p:sp>
        <p:nvSpPr>
          <p:cNvPr id="10" name="r8.9-2.92"/>
          <p:cNvSpPr/>
          <p:nvPr/>
        </p:nvSpPr>
        <p:spPr>
          <a:xfrm>
            <a:off x="8138160" y="2670048"/>
            <a:ext cx="32918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898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14191B"/>
                </a:solidFill>
              </a:rPr>
              <a:t>Non-root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2278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A fixed non-root UID in both images, capabilities dropped in the manifests.</a:t>
            </a:r>
            <a:endParaRPr lang="en-US" sz="1200" dirty="0"/>
          </a:p>
        </p:txBody>
      </p:sp>
      <p:sp>
        <p:nvSpPr>
          <p:cNvPr id="13" name="r8.9-4.37"/>
          <p:cNvSpPr/>
          <p:nvPr/>
        </p:nvSpPr>
        <p:spPr>
          <a:xfrm>
            <a:off x="8138160" y="3995928"/>
            <a:ext cx="329184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42245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14191B"/>
                </a:solidFill>
              </a:rPr>
              <a:t>Upgraded bases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55371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apk and apt upgrade at build time, so base-image CVEs do not ride along.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The pipeline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255A62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r0.8-2.02"/>
          <p:cNvSpPr/>
          <p:nvPr/>
        </p:nvSpPr>
        <p:spPr>
          <a:xfrm>
            <a:off x="731520" y="1847088"/>
            <a:ext cx="2468880" cy="27432"/>
          </a:xfrm>
          <a:prstGeom prst="rect">
            <a:avLst/>
          </a:prstGeom>
          <a:solidFill>
            <a:srgbClr val="255A62"/>
          </a:solidFill>
          <a:ln w="12700">
            <a:solidFill>
              <a:srgbClr val="255A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14191B"/>
                </a:solidFill>
              </a:rPr>
              <a:t>backend tests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40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861"/>
                </a:solidFill>
              </a:rPr>
              <a:t>pytest · JUnit artifact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456432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255A62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r3.7800000000000002-2.02"/>
          <p:cNvSpPr/>
          <p:nvPr/>
        </p:nvSpPr>
        <p:spPr>
          <a:xfrm>
            <a:off x="3456432" y="1847088"/>
            <a:ext cx="2468880" cy="27432"/>
          </a:xfrm>
          <a:prstGeom prst="rect">
            <a:avLst/>
          </a:prstGeom>
          <a:solidFill>
            <a:srgbClr val="255A62"/>
          </a:solidFill>
          <a:ln w="12700">
            <a:solidFill>
              <a:srgbClr val="255A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9933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14191B"/>
                </a:solidFill>
              </a:rPr>
              <a:t>frontend build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2340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861"/>
                </a:solidFill>
              </a:rPr>
              <a:t>Vite · dist artifact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255A62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r6.76-2.02"/>
          <p:cNvSpPr/>
          <p:nvPr/>
        </p:nvSpPr>
        <p:spPr>
          <a:xfrm>
            <a:off x="6181344" y="1847088"/>
            <a:ext cx="2468880" cy="27432"/>
          </a:xfrm>
          <a:prstGeom prst="rect">
            <a:avLst/>
          </a:prstGeom>
          <a:solidFill>
            <a:srgbClr val="255A62"/>
          </a:solidFill>
          <a:ln w="12700">
            <a:solidFill>
              <a:srgbClr val="255A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19933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14191B"/>
                </a:solidFill>
              </a:rPr>
              <a:t>build, scan, push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2340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861"/>
                </a:solidFill>
              </a:rPr>
              <a:t>buildx · Trivy · GHCR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06256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1F5739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r9.74-2.02"/>
          <p:cNvSpPr/>
          <p:nvPr/>
        </p:nvSpPr>
        <p:spPr>
          <a:xfrm>
            <a:off x="8906256" y="1847088"/>
            <a:ext cx="2468880" cy="27432"/>
          </a:xfrm>
          <a:prstGeom prst="rect">
            <a:avLst/>
          </a:prstGeom>
          <a:solidFill>
            <a:srgbClr val="1F5739"/>
          </a:solidFill>
          <a:ln w="12700">
            <a:solidFill>
              <a:srgbClr val="1F573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06256" y="19933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20" kern="0" dirty="0">
                <a:solidFill>
                  <a:srgbClr val="14191B"/>
                </a:solidFill>
              </a:rPr>
              <a:t>deploy to kind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906256" y="2340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861"/>
                </a:solidFill>
              </a:rPr>
              <a:t>helm upgrade · smoke test</a:t>
            </a:r>
            <a:endParaRPr lang="en-US" sz="1150" dirty="0"/>
          </a:p>
        </p:txBody>
      </p:sp>
      <p:sp>
        <p:nvSpPr>
          <p:cNvPr id="20" name="r0.8-3.3"/>
          <p:cNvSpPr/>
          <p:nvPr/>
        </p:nvSpPr>
        <p:spPr>
          <a:xfrm>
            <a:off x="731520" y="3017520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2004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20" kern="0" dirty="0">
                <a:solidFill>
                  <a:srgbClr val="14191B"/>
                </a:solidFill>
              </a:rPr>
              <a:t>What the smoke test proves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547872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1"/>
                </a:solidFill>
              </a:rPr>
              <a:t>It does not check that the release installed. It creates an issue through nginx, reads the stats back, and asserts the metrics counter moved — nginx, backend and postgres exercised in one pass.</a:t>
            </a:r>
            <a:endParaRPr lang="en-US" sz="1250" dirty="0"/>
          </a:p>
        </p:txBody>
      </p:sp>
      <p:sp>
        <p:nvSpPr>
          <p:cNvPr id="23" name="p6.3-3.84"/>
          <p:cNvSpPr/>
          <p:nvPr/>
        </p:nvSpPr>
        <p:spPr>
          <a:xfrm>
            <a:off x="5760720" y="3511296"/>
            <a:ext cx="5669280" cy="1920240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0" y="3639312"/>
            <a:ext cx="53035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tracker   STATUS: deployed   REVISION: 1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{"status":"ready"}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{"title":"created by CI","status":"open","id":1}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{"total":1,"by_status":{"open":1,"done":0}}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BF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tracker_issues_created_total 0.0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E76"/>
                </a:solidFill>
              </a:rPr>
              <a:t>Run 38892471244 on commit 17ee1b0 — five jobs green.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spc="-90" kern="0" dirty="0">
                <a:solidFill>
                  <a:srgbClr val="FFFFFF"/>
                </a:solidFill>
              </a:rPr>
              <a:t>The gate</a:t>
            </a:r>
            <a:endParaRPr lang="en-US" sz="3700" dirty="0"/>
          </a:p>
        </p:txBody>
      </p:sp>
      <p:sp>
        <p:nvSpPr>
          <p:cNvPr id="3" name="r0.8-1.42"/>
          <p:cNvSpPr/>
          <p:nvPr/>
        </p:nvSpPr>
        <p:spPr>
          <a:xfrm>
            <a:off x="731520" y="1298448"/>
            <a:ext cx="10698480" cy="18288"/>
          </a:xfrm>
          <a:prstGeom prst="rect">
            <a:avLst/>
          </a:prstGeom>
          <a:solidFill>
            <a:srgbClr val="D4747F"/>
          </a:solidFill>
          <a:ln w="12700">
            <a:solidFill>
              <a:srgbClr val="D474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spc="-90" kern="0" dirty="0">
                <a:solidFill>
                  <a:srgbClr val="FFFFFF"/>
                </a:solidFill>
              </a:rPr>
              <a:t>A scan that fails the build is only worth having if the fix is cheap.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546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BE0E3"/>
                </a:solidFill>
              </a:rPr>
              <a:t>Block on a vulnerability that clears with a version bump, because that fix costs one line. Report, but do not block, on one with no patch anywhere — a gate that stops work nobody can unblock is a gate people switch off.</a:t>
            </a:r>
            <a:endParaRPr lang="en-US" sz="1400" dirty="0"/>
          </a:p>
        </p:txBody>
      </p:sp>
      <p:sp>
        <p:nvSpPr>
          <p:cNvPr id="6" name="p7.7-1.8"/>
          <p:cNvSpPr/>
          <p:nvPr/>
        </p:nvSpPr>
        <p:spPr>
          <a:xfrm>
            <a:off x="7040880" y="1645920"/>
            <a:ext cx="4389120" cy="1024128"/>
          </a:xfrm>
          <a:prstGeom prst="rect">
            <a:avLst/>
          </a:prstGeom>
          <a:solidFill>
            <a:srgbClr val="7C0D1A"/>
          </a:solidFill>
          <a:ln w="12700">
            <a:solidFill>
              <a:srgbClr val="7C0D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0" y="1773936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      HIGH,CRITICAL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ignore-unfixed: true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exit-code:     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9260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BE0E3"/>
                </a:solidFill>
              </a:rPr>
              <a:t>RESULT ON BOTH IMAGES</a:t>
            </a:r>
            <a:endParaRPr lang="en-US" sz="1000" dirty="0"/>
          </a:p>
        </p:txBody>
      </p:sp>
      <p:sp>
        <p:nvSpPr>
          <p:cNvPr id="9" name="r7.7-3.5"/>
          <p:cNvSpPr/>
          <p:nvPr/>
        </p:nvSpPr>
        <p:spPr>
          <a:xfrm>
            <a:off x="7040880" y="3200400"/>
            <a:ext cx="4389120" cy="12802"/>
          </a:xfrm>
          <a:prstGeom prst="rect">
            <a:avLst/>
          </a:prstGeom>
          <a:solidFill>
            <a:srgbClr val="D4747F"/>
          </a:solidFill>
          <a:ln w="12700">
            <a:solidFill>
              <a:srgbClr val="D474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issue-tracker-backend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9264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E0E3"/>
                </a:solidFill>
              </a:rPr>
              <a:t>debian 13.7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3337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issue-tracker-frontend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3886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E0E3"/>
                </a:solidFill>
              </a:rPr>
              <a:t>alpine 3.23.4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0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0E3"/>
                </a:solidFill>
              </a:rPr>
              <a:t>It failed twice before it passed: the frontend's Alpine base was behind, then Starlette under a pinned FastAPI. Both fixes were one-line version changes, and both are in the committed definitions.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Kubernetes and Helm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r0.8-1.68"/>
          <p:cNvSpPr/>
          <p:nvPr/>
        </p:nvSpPr>
        <p:spPr>
          <a:xfrm>
            <a:off x="731520" y="1536192"/>
            <a:ext cx="6675120" cy="12802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5" name="r0.8-1.8"/>
          <p:cNvSpPr/>
          <p:nvPr/>
        </p:nvSpPr>
        <p:spPr>
          <a:xfrm>
            <a:off x="731520" y="1645920"/>
            <a:ext cx="41148" cy="512064"/>
          </a:xfrm>
          <a:prstGeom prst="rect">
            <a:avLst/>
          </a:prstGeom>
          <a:solidFill>
            <a:srgbClr val="255A62"/>
          </a:solidFill>
          <a:ln w="12700">
            <a:solidFill>
              <a:srgbClr val="255A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64592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1B"/>
                </a:solidFill>
              </a:rPr>
              <a:t>postgres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64592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StatefulSet · volumeClaimTemplate · headless Service · pg_isready</a:t>
            </a:r>
            <a:endParaRPr lang="en-US" sz="1150" dirty="0"/>
          </a:p>
        </p:txBody>
      </p:sp>
      <p:sp>
        <p:nvSpPr>
          <p:cNvPr id="8" name="r0.8-2.4"/>
          <p:cNvSpPr/>
          <p:nvPr/>
        </p:nvSpPr>
        <p:spPr>
          <a:xfrm>
            <a:off x="731520" y="2194560"/>
            <a:ext cx="667512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9" name="r0.8-2.58"/>
          <p:cNvSpPr/>
          <p:nvPr/>
        </p:nvSpPr>
        <p:spPr>
          <a:xfrm>
            <a:off x="731520" y="2359152"/>
            <a:ext cx="41148" cy="512064"/>
          </a:xfrm>
          <a:prstGeom prst="rect">
            <a:avLst/>
          </a:prstGeom>
          <a:solidFill>
            <a:srgbClr val="0F4E80"/>
          </a:solidFill>
          <a:ln w="12700">
            <a:solidFill>
              <a:srgbClr val="0F4E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23591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1B"/>
                </a:solidFill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5915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2 replicas · startup, readiness, liveness · runAsNonRoot · caps dropped</a:t>
            </a:r>
            <a:endParaRPr lang="en-US" sz="1150" dirty="0"/>
          </a:p>
        </p:txBody>
      </p:sp>
      <p:sp>
        <p:nvSpPr>
          <p:cNvPr id="12" name="r0.8-3.18"/>
          <p:cNvSpPr/>
          <p:nvPr/>
        </p:nvSpPr>
        <p:spPr>
          <a:xfrm>
            <a:off x="731520" y="2907792"/>
            <a:ext cx="667512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3" name="r0.8-3.3600000000000003"/>
          <p:cNvSpPr/>
          <p:nvPr/>
        </p:nvSpPr>
        <p:spPr>
          <a:xfrm>
            <a:off x="731520" y="3072384"/>
            <a:ext cx="41148" cy="512064"/>
          </a:xfrm>
          <a:prstGeom prst="rect">
            <a:avLst/>
          </a:prstGeom>
          <a:solidFill>
            <a:srgbClr val="0F4E80"/>
          </a:solidFill>
          <a:ln w="12700">
            <a:solidFill>
              <a:srgbClr val="0F4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307238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1B"/>
                </a:solidFill>
              </a:rPr>
              <a:t>frontend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07238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nginx serving the bundle · config from a ConfigMap proxying /api</a:t>
            </a:r>
            <a:endParaRPr lang="en-US" sz="1150" dirty="0"/>
          </a:p>
        </p:txBody>
      </p:sp>
      <p:sp>
        <p:nvSpPr>
          <p:cNvPr id="16" name="r0.8-3.9600000000000004"/>
          <p:cNvSpPr/>
          <p:nvPr/>
        </p:nvSpPr>
        <p:spPr>
          <a:xfrm>
            <a:off x="731520" y="3621024"/>
            <a:ext cx="667512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7" name="r0.8-4.14"/>
          <p:cNvSpPr/>
          <p:nvPr/>
        </p:nvSpPr>
        <p:spPr>
          <a:xfrm>
            <a:off x="731520" y="3785616"/>
            <a:ext cx="41148" cy="512064"/>
          </a:xfrm>
          <a:prstGeom prst="rect">
            <a:avLst/>
          </a:prstGeom>
          <a:solidFill>
            <a:srgbClr val="4A5861"/>
          </a:solidFill>
          <a:ln w="12700">
            <a:solidFill>
              <a:srgbClr val="4A58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78561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1B"/>
                </a:solidFill>
              </a:rPr>
              <a:t>Ingress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7856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tracker.local · / to the frontend, /api to the backend</a:t>
            </a:r>
            <a:endParaRPr lang="en-US" sz="1150" dirty="0"/>
          </a:p>
        </p:txBody>
      </p:sp>
      <p:sp>
        <p:nvSpPr>
          <p:cNvPr id="20" name="r0.8-4.739999999999999"/>
          <p:cNvSpPr/>
          <p:nvPr/>
        </p:nvSpPr>
        <p:spPr>
          <a:xfrm>
            <a:off x="731520" y="4334256"/>
            <a:ext cx="667512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1" name="r0.8-4.92"/>
          <p:cNvSpPr/>
          <p:nvPr/>
        </p:nvSpPr>
        <p:spPr>
          <a:xfrm>
            <a:off x="731520" y="4498848"/>
            <a:ext cx="41148" cy="512064"/>
          </a:xfrm>
          <a:prstGeom prst="rect">
            <a:avLst/>
          </a:prstGeom>
          <a:solidFill>
            <a:srgbClr val="8A5000"/>
          </a:solidFill>
          <a:ln w="12700">
            <a:solidFill>
              <a:srgbClr val="8A5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49884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91B"/>
                </a:solidFill>
              </a:rPr>
              <a:t>HPA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449884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1"/>
                </a:solidFill>
              </a:rPr>
              <a:t>backend held between 2 and 5 replicas at 60% CPU</a:t>
            </a:r>
            <a:endParaRPr lang="en-US" sz="1150" dirty="0"/>
          </a:p>
        </p:txBody>
      </p:sp>
      <p:sp>
        <p:nvSpPr>
          <p:cNvPr id="24" name="r0.8-5.52"/>
          <p:cNvSpPr/>
          <p:nvPr/>
        </p:nvSpPr>
        <p:spPr>
          <a:xfrm>
            <a:off x="731520" y="5047488"/>
            <a:ext cx="667512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157276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200" b="1" spc="-60" kern="0" dirty="0">
                <a:solidFill>
                  <a:srgbClr val="14191B"/>
                </a:solidFill>
              </a:rPr>
              <a:t>Change the config and the Pods roll.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6060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1"/>
                </a:solidFill>
              </a:rPr>
              <a:t>The backend Deployment carries a checksum of the ConfigMap and Secret as an annotation. Without it, a configuration change updates the objects and nothing restarts to pick it up.</a:t>
            </a:r>
            <a:endParaRPr lang="en-US" sz="1250" dirty="0"/>
          </a:p>
        </p:txBody>
      </p:sp>
      <p:sp>
        <p:nvSpPr>
          <p:cNvPr id="27" name="p8.8-4.8"/>
          <p:cNvSpPr/>
          <p:nvPr/>
        </p:nvSpPr>
        <p:spPr>
          <a:xfrm>
            <a:off x="8046720" y="4389120"/>
            <a:ext cx="3383280" cy="868680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0" y="4517136"/>
            <a:ext cx="3017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annotations: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checksum/config: {{ … }}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5778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E76"/>
                </a:solidFill>
              </a:rPr>
              <a:t>Persistence verified by deleting the postgres Pod: the StatefulSet rebound the same PVC and the issues survived.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Observability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400" b="1" spc="-70" kern="0" dirty="0">
                <a:solidFill>
                  <a:srgbClr val="14191B"/>
                </a:solidFill>
              </a:rPr>
              <a:t>The autoscaler and the monitoring are designed together: neither has to know how many replicas there will be.</a:t>
            </a:r>
            <a:endParaRPr lang="en-US" sz="2400" dirty="0"/>
          </a:p>
        </p:txBody>
      </p:sp>
      <p:sp>
        <p:nvSpPr>
          <p:cNvPr id="5" name="r0.8-2.75"/>
          <p:cNvSpPr/>
          <p:nvPr/>
        </p:nvSpPr>
        <p:spPr>
          <a:xfrm>
            <a:off x="731520" y="2514600"/>
            <a:ext cx="24688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51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14191B"/>
                </a:solidFill>
              </a:rPr>
              <a:t>Chart annotates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809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861"/>
                </a:solidFill>
              </a:rPr>
              <a:t>prometheus.io/scrape on the backend</a:t>
            </a:r>
            <a:endParaRPr lang="en-US" sz="1150" dirty="0"/>
          </a:p>
        </p:txBody>
      </p:sp>
      <p:sp>
        <p:nvSpPr>
          <p:cNvPr id="8" name="r3.7800000000000002-2.75"/>
          <p:cNvSpPr/>
          <p:nvPr/>
        </p:nvSpPr>
        <p:spPr>
          <a:xfrm>
            <a:off x="3456432" y="2514600"/>
            <a:ext cx="24688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56432" y="2651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14191B"/>
                </a:solidFill>
              </a:rPr>
              <a:t>HPA adds a Pod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9809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861"/>
                </a:solidFill>
              </a:rPr>
              <a:t>it carries the annotation already</a:t>
            </a:r>
            <a:endParaRPr lang="en-US" sz="1150" dirty="0"/>
          </a:p>
        </p:txBody>
      </p:sp>
      <p:sp>
        <p:nvSpPr>
          <p:cNvPr id="11" name="r6.76-2.75"/>
          <p:cNvSpPr/>
          <p:nvPr/>
        </p:nvSpPr>
        <p:spPr>
          <a:xfrm>
            <a:off x="6181344" y="2514600"/>
            <a:ext cx="24688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81344" y="2651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14191B"/>
                </a:solidFill>
              </a:rPr>
              <a:t>Prometheus keeps it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81344" y="29809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861"/>
                </a:solidFill>
              </a:rPr>
              <a:t>discovered within one scrape interval</a:t>
            </a:r>
            <a:endParaRPr lang="en-US" sz="1150" dirty="0"/>
          </a:p>
        </p:txBody>
      </p:sp>
      <p:sp>
        <p:nvSpPr>
          <p:cNvPr id="14" name="r9.74-2.75"/>
          <p:cNvSpPr/>
          <p:nvPr/>
        </p:nvSpPr>
        <p:spPr>
          <a:xfrm>
            <a:off x="8906256" y="2514600"/>
            <a:ext cx="24688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06256" y="2651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20" kern="0" dirty="0">
                <a:solidFill>
                  <a:srgbClr val="14191B"/>
                </a:solidFill>
              </a:rPr>
              <a:t>Grafana reads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906256" y="29809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861"/>
                </a:solidFill>
              </a:rPr>
              <a:t>rps by route, p95, issues created, error rate</a:t>
            </a:r>
            <a:endParaRPr lang="en-US" sz="1150" dirty="0"/>
          </a:p>
        </p:txBody>
      </p:sp>
      <p:sp>
        <p:nvSpPr>
          <p:cNvPr id="17" name="r0.8-4.25"/>
          <p:cNvSpPr/>
          <p:nvPr/>
        </p:nvSpPr>
        <p:spPr>
          <a:xfrm>
            <a:off x="731520" y="3886200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069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ALERTS, BECAUSE A DASHBOARD NOBODY WATCHES CATCHES NOTHING</a:t>
            </a:r>
            <a:endParaRPr lang="en-US" sz="1000" dirty="0"/>
          </a:p>
        </p:txBody>
      </p:sp>
      <p:sp>
        <p:nvSpPr>
          <p:cNvPr id="19" name="r0.8-4.82"/>
          <p:cNvSpPr/>
          <p:nvPr/>
        </p:nvSpPr>
        <p:spPr>
          <a:xfrm>
            <a:off x="731520" y="4407408"/>
            <a:ext cx="41148" cy="475488"/>
          </a:xfrm>
          <a:prstGeom prst="rect">
            <a:avLst/>
          </a:prstGeom>
          <a:solidFill>
            <a:srgbClr val="B01425"/>
          </a:solidFill>
          <a:ln w="12700">
            <a:solidFill>
              <a:srgbClr val="B0142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44074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BackendHighErrorRate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4074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1"/>
                </a:solidFill>
              </a:rPr>
              <a:t>5xx above five percent for two minutes</a:t>
            </a:r>
            <a:endParaRPr lang="en-US" sz="1200" dirty="0"/>
          </a:p>
        </p:txBody>
      </p:sp>
      <p:sp>
        <p:nvSpPr>
          <p:cNvPr id="22" name="r0.8-5.54"/>
          <p:cNvSpPr/>
          <p:nvPr/>
        </p:nvSpPr>
        <p:spPr>
          <a:xfrm>
            <a:off x="731520" y="5065776"/>
            <a:ext cx="41148" cy="475488"/>
          </a:xfrm>
          <a:prstGeom prst="rect">
            <a:avLst/>
          </a:prstGeom>
          <a:solidFill>
            <a:srgbClr val="8A5000"/>
          </a:solidFill>
          <a:ln w="12700">
            <a:solidFill>
              <a:srgbClr val="8A5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50657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9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BackendDown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50657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1"/>
                </a:solidFill>
              </a:rPr>
              <a:t>the target disappears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389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5861"/>
                </a:solidFill>
              </a:rPr>
              <a:t>The app also counts issues created — a business signal, not an infrastructure one. It is what the CI smoke test asserts against.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GitOps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861"/>
                </a:solidFill>
              </a:rPr>
              <a:t>An Argo CD Application tracks the chart on main with automated sync, prune and self-heal. Change a value, commit, push; nobody runs helm.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2600" b="1" spc="-90" kern="0" dirty="0">
                <a:solidFill>
                  <a:srgbClr val="14191B"/>
                </a:solidFill>
              </a:rPr>
              <a:t>GitOps and an autoscaler disagree about who owns the replica count.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375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861"/>
                </a:solidFill>
              </a:rPr>
              <a:t>The first version applied ignoreDifferences to every Deployment, so Argo CD also ignored a deliberate change to the frontend's replica count — the change was pushed, and nothing moved.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861"/>
                </a:solidFill>
              </a:rPr>
              <a:t>The conflict has to be declared, and declared for the right object.</a:t>
            </a:r>
            <a:endParaRPr lang="en-US" sz="1300" dirty="0"/>
          </a:p>
        </p:txBody>
      </p:sp>
      <p:sp>
        <p:nvSpPr>
          <p:cNvPr id="7" name="p7.7-2.35"/>
          <p:cNvSpPr/>
          <p:nvPr/>
        </p:nvSpPr>
        <p:spPr>
          <a:xfrm>
            <a:off x="7040880" y="2148840"/>
            <a:ext cx="4389120" cy="2286000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23760" y="2276856"/>
            <a:ext cx="402336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ignoreDifferences: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group: apps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kind: Deployment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tracker-backend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7C9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scoped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jsonPointers:
</a:t>
            </a:r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9DB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/spec/replicas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4617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E76"/>
                </a:solidFill>
              </a:rPr>
              <a:t>Naming the HPA-managed Deployment is the whole fix.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2062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700" b="1" spc="-90" kern="0" dirty="0">
                <a:solidFill>
                  <a:srgbClr val="14191B"/>
                </a:solidFill>
              </a:rPr>
              <a:t>Troubleshooting drill</a:t>
            </a:r>
            <a:endParaRPr lang="en-US" sz="3700" dirty="0"/>
          </a:p>
        </p:txBody>
      </p:sp>
      <p:sp>
        <p:nvSpPr>
          <p:cNvPr id="3" name="r0.8-1.28"/>
          <p:cNvSpPr/>
          <p:nvPr/>
        </p:nvSpPr>
        <p:spPr>
          <a:xfrm>
            <a:off x="731520" y="1170432"/>
            <a:ext cx="10698480" cy="18288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5861"/>
                </a:solidFill>
              </a:rPr>
              <a:t>Two faults introduced into the running release, each diagnosed from the cluster before any fix was applied.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933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ACUITY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993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FAULT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9933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SYMPTOM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9933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FOUND WITH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149840" y="19933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A5861"/>
                </a:solidFill>
              </a:rPr>
              <a:t>FIX</a:t>
            </a:r>
            <a:endParaRPr lang="en-US" sz="1000" dirty="0"/>
          </a:p>
        </p:txBody>
      </p:sp>
      <p:sp>
        <p:nvSpPr>
          <p:cNvPr id="10" name="r0.8-2.46"/>
          <p:cNvSpPr/>
          <p:nvPr/>
        </p:nvSpPr>
        <p:spPr>
          <a:xfrm>
            <a:off x="731520" y="2249424"/>
            <a:ext cx="10698480" cy="12802"/>
          </a:xfrm>
          <a:prstGeom prst="rect">
            <a:avLst/>
          </a:prstGeom>
          <a:solidFill>
            <a:srgbClr val="14191B"/>
          </a:solidFill>
          <a:ln w="12700">
            <a:solidFill>
              <a:srgbClr val="14191B"/>
            </a:solidFill>
            <a:prstDash val="solid"/>
          </a:ln>
        </p:spPr>
      </p:sp>
      <p:sp>
        <p:nvSpPr>
          <p:cNvPr id="11" name="t0.8-2.72"/>
          <p:cNvSpPr/>
          <p:nvPr/>
        </p:nvSpPr>
        <p:spPr>
          <a:xfrm>
            <a:off x="731520" y="2487168"/>
            <a:ext cx="868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14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487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1425"/>
                </a:solidFill>
              </a:rPr>
              <a:t>1</a:t>
            </a:r>
            <a:pPr algn="ctr" indent="0" marL="0">
              <a:buNone/>
            </a:pPr>
            <a:r>
              <a:rPr lang="en-US" sz="900" b="1" spc="100" kern="0" dirty="0">
                <a:solidFill>
                  <a:srgbClr val="B01425"/>
                </a:solidFill>
              </a:rPr>
              <a:t>  HIGH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395728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91B"/>
                </a:solidFill>
              </a:rPr>
              <a:t>Wrong database host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395728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Rollout stuck, new Pod 0/1,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old Pods still serving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395728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kubectl logs, then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describe probe events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0" y="2395728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5739"/>
                </a:solidFill>
              </a:rPr>
              <a:t>helm rollback</a:t>
            </a:r>
            <a:endParaRPr lang="en-US" sz="1200" dirty="0"/>
          </a:p>
        </p:txBody>
      </p:sp>
      <p:sp>
        <p:nvSpPr>
          <p:cNvPr id="17" name="r0.8-3.8"/>
          <p:cNvSpPr/>
          <p:nvPr/>
        </p:nvSpPr>
        <p:spPr>
          <a:xfrm>
            <a:off x="731520" y="3474720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18" name="t0.8-4.1"/>
          <p:cNvSpPr/>
          <p:nvPr/>
        </p:nvSpPr>
        <p:spPr>
          <a:xfrm>
            <a:off x="731520" y="3749040"/>
            <a:ext cx="868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5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49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000"/>
                </a:solidFill>
              </a:rPr>
              <a:t>2</a:t>
            </a:r>
            <a:pPr algn="ctr" indent="0" marL="0">
              <a:buNone/>
            </a:pPr>
            <a:r>
              <a:rPr lang="en-US" sz="900" b="1" spc="100" kern="0" dirty="0">
                <a:solidFill>
                  <a:srgbClr val="8A5000"/>
                </a:solidFill>
              </a:rPr>
              <a:t>  MED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91B"/>
                </a:solidFill>
              </a:rPr>
              <a:t>Ingress to a Service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91B"/>
                </a:solidFill>
              </a:rPr>
              <a:t>that does not exist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657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UI loads, every API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call returns 503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36576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describe ingress named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861"/>
                </a:solidFill>
              </a:rPr>
              <a:t>the missing Service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36576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5739"/>
                </a:solidFill>
              </a:rPr>
              <a:t>re-render the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5739"/>
                </a:solidFill>
              </a:rPr>
              <a:t>Ingress</a:t>
            </a:r>
            <a:endParaRPr lang="en-US" sz="1200" dirty="0"/>
          </a:p>
        </p:txBody>
      </p:sp>
      <p:sp>
        <p:nvSpPr>
          <p:cNvPr id="24" name="r0.8-5.18"/>
          <p:cNvSpPr/>
          <p:nvPr/>
        </p:nvSpPr>
        <p:spPr>
          <a:xfrm>
            <a:off x="731520" y="4736592"/>
            <a:ext cx="10698480" cy="10973"/>
          </a:xfrm>
          <a:prstGeom prst="rect">
            <a:avLst/>
          </a:prstGeom>
          <a:solidFill>
            <a:srgbClr val="C3CFD2"/>
          </a:solidFill>
          <a:ln w="12700">
            <a:solidFill>
              <a:srgbClr val="C3CFD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E76"/>
                </a:solidFill>
              </a:rPr>
              <a:t>The first fault is why the probes are shaped the way they are: readiness checks the database, so the new Pod never became Ready and the rolling update refused to proceed. The old Pods kept serving.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DAE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spc="-90" kern="0" dirty="0">
                <a:solidFill>
                  <a:srgbClr val="FFFFFF"/>
                </a:solidFill>
              </a:rPr>
              <a:t>What it taught</a:t>
            </a:r>
            <a:endParaRPr lang="en-US" sz="3700" dirty="0"/>
          </a:p>
        </p:txBody>
      </p:sp>
      <p:sp>
        <p:nvSpPr>
          <p:cNvPr id="3" name="r0.8-1.6"/>
          <p:cNvSpPr/>
          <p:nvPr/>
        </p:nvSpPr>
        <p:spPr>
          <a:xfrm>
            <a:off x="731520" y="1463040"/>
            <a:ext cx="10698480" cy="18288"/>
          </a:xfrm>
          <a:prstGeom prst="rect">
            <a:avLst/>
          </a:prstGeom>
          <a:solidFill>
            <a:srgbClr val="2C3A42"/>
          </a:solidFill>
          <a:ln w="12700">
            <a:solidFill>
              <a:srgbClr val="2C3A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5E7A83"/>
                </a:solidFill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783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2ECEE"/>
                </a:solidFill>
              </a:rPr>
              <a:t>A readiness probe that checks the database turns a bad config change into a stuck rollout instead of an outage.</a:t>
            </a:r>
            <a:endParaRPr lang="en-US" sz="1550" dirty="0"/>
          </a:p>
        </p:txBody>
      </p:sp>
      <p:sp>
        <p:nvSpPr>
          <p:cNvPr id="6" name="r1.8-2.87"/>
          <p:cNvSpPr/>
          <p:nvPr/>
        </p:nvSpPr>
        <p:spPr>
          <a:xfrm>
            <a:off x="1645920" y="2624328"/>
            <a:ext cx="9601200" cy="10973"/>
          </a:xfrm>
          <a:prstGeom prst="rect">
            <a:avLst/>
          </a:prstGeom>
          <a:solidFill>
            <a:srgbClr val="2C3A42"/>
          </a:solidFill>
          <a:ln w="12700">
            <a:solidFill>
              <a:srgbClr val="2C3A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07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5E7A83"/>
                </a:solidFill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8072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2ECEE"/>
                </a:solidFill>
              </a:rPr>
              <a:t>A scan that fails the build is useful only where the fix is cheap — so block on fixable findings and report the rest.</a:t>
            </a:r>
            <a:endParaRPr lang="en-US" sz="1550" dirty="0"/>
          </a:p>
        </p:txBody>
      </p:sp>
      <p:sp>
        <p:nvSpPr>
          <p:cNvPr id="9" name="r1.8-3.99"/>
          <p:cNvSpPr/>
          <p:nvPr/>
        </p:nvSpPr>
        <p:spPr>
          <a:xfrm>
            <a:off x="1645920" y="3648456"/>
            <a:ext cx="9601200" cy="10973"/>
          </a:xfrm>
          <a:prstGeom prst="rect">
            <a:avLst/>
          </a:prstGeom>
          <a:solidFill>
            <a:srgbClr val="2C3A42"/>
          </a:solidFill>
          <a:ln w="12700">
            <a:solidFill>
              <a:srgbClr val="2C3A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313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5E7A83"/>
                </a:solidFill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831336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2ECEE"/>
                </a:solidFill>
              </a:rPr>
              <a:t>GitOps and autoscaling both claim the replica count, and the conflict has to be declared narrowly.</a:t>
            </a:r>
            <a:endParaRPr lang="en-US" sz="1550" dirty="0"/>
          </a:p>
        </p:txBody>
      </p:sp>
      <p:sp>
        <p:nvSpPr>
          <p:cNvPr id="12" name="r1.8-5.11"/>
          <p:cNvSpPr/>
          <p:nvPr/>
        </p:nvSpPr>
        <p:spPr>
          <a:xfrm>
            <a:off x="1645920" y="4672584"/>
            <a:ext cx="9601200" cy="10973"/>
          </a:xfrm>
          <a:prstGeom prst="rect">
            <a:avLst/>
          </a:prstGeom>
          <a:solidFill>
            <a:srgbClr val="2C3A42"/>
          </a:solidFill>
          <a:ln w="12700">
            <a:solidFill>
              <a:srgbClr val="2C3A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8554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5E7A83"/>
                </a:solidFill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855464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E2ECEE"/>
                </a:solidFill>
              </a:rPr>
              <a:t>Running the whole stack locally first made the cloud step a change of target, not a different project.</a:t>
            </a:r>
            <a:endParaRPr lang="en-US" sz="1550" dirty="0"/>
          </a:p>
        </p:txBody>
      </p:sp>
      <p:sp>
        <p:nvSpPr>
          <p:cNvPr id="15" name="r0.8-6.5"/>
          <p:cNvSpPr/>
          <p:nvPr/>
        </p:nvSpPr>
        <p:spPr>
          <a:xfrm>
            <a:off x="731520" y="5943600"/>
            <a:ext cx="10698480" cy="12802"/>
          </a:xfrm>
          <a:prstGeom prst="rect">
            <a:avLst/>
          </a:prstGeom>
          <a:solidFill>
            <a:srgbClr val="2C3A42"/>
          </a:solidFill>
          <a:ln w="12700">
            <a:solidFill>
              <a:srgbClr val="2C3A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github.com/RAJVEER42/DevOps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49C"/>
                </a:solidFill>
              </a:rPr>
              <a:t>Rajveer Bishnoi · 24BCS10404 · Roll 10404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sue Board Capstone">
  <a:themeElements>
    <a:clrScheme name="Issue Board Capstone">
      <a:dk1>
        <a:srgbClr val="14191B"/>
      </a:dk1>
      <a:lt1>
        <a:srgbClr val="FFFFFF"/>
      </a:lt1>
      <a:dk2>
        <a:srgbClr val="4A5861"/>
      </a:dk2>
      <a:lt2>
        <a:srgbClr val="E4EAEB"/>
      </a:lt2>
      <a:accent1>
        <a:srgbClr val="B01425"/>
      </a:accent1>
      <a:accent2>
        <a:srgbClr val="8A5000"/>
      </a:accent2>
      <a:accent3>
        <a:srgbClr val="255A62"/>
      </a:accent3>
      <a:accent4>
        <a:srgbClr val="0F4E80"/>
      </a:accent4>
      <a:accent5>
        <a:srgbClr val="1F5739"/>
      </a:accent5>
      <a:accent6>
        <a:srgbClr val="9DAEB3"/>
      </a:accent6>
      <a:hlink>
        <a:srgbClr val="0F4E80"/>
      </a:hlink>
      <a:folHlink>
        <a:srgbClr val="4A5861"/>
      </a:folHlink>
    </a:clrScheme>
    <a:fontScheme name="Issue Board Capstone">
      <a:majorFont>
        <a:latin typeface="Libre Frankli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re Frankli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DevOps Coursework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Issue Tracker, end to end</dc:title>
  <dc:subject>PptxGenJS Presentation</dc:subject>
  <dc:creator>Rajveer Bishnoi</dc:creator>
  <cp:lastModifiedBy>Rajveer Bishnoi</cp:lastModifiedBy>
  <cp:revision>1</cp:revision>
  <dcterms:created xsi:type="dcterms:W3CDTF">2026-10-21T11:48:32Z</dcterms:created>
  <dcterms:modified xsi:type="dcterms:W3CDTF">2026-10-21T11:48:32Z</dcterms:modified>
</cp:coreProperties>
</file>