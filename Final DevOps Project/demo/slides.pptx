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tracker taken end to end. Every layer of the course applied to one application: version control, CI with tests and image scanning, a container registry, Kubernetes with Helm, Ingress, HPA and probes, Prometheus and Grafana, GitOps with Argo CD, and a troubleshooting drill.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small on purpose. The interesting part is everything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paths: how code reaches the cluster, and how a request moves once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The point is that these pieces fit together, not that any one of them is clever.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operational endpoints and six that do the work. The health/ready split is the part worth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is the developer path. The same images are what the pipeline builds and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 job does not just apply the chart. It creates an issue through the frontend Service and reads the counter back, so the whole chain is exercised: nginx to backend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ignore-unfixed choice: it is the difference between a gate people respect and one they disable.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checksum annotation is the kind of thing that is invisible until a config change silently does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annotation discovery is that autoscaling and monitoring do not have to be kept in sync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the honest mistake is worth telling: the first version of ignoreDifferences was too 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faults were diagnosed from the cluster, not from memory of what was changed. That is the skill being demonstrated.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things that were actually learned, each of them something that only showed up by running the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48840"/>
            <a:ext cx="1088136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611880"/>
            <a:ext cx="10881360" cy="822960"/>
          </a:xfrm>
          <a:prstGeom prst="rect">
            <a:avLst/>
          </a:prstGeom>
          <a:noFill/>
          <a:ln/>
        </p:spPr>
        <p:txBody>
          <a:bodyPr wrap="square" rtlCol="0"/>
          <a:lstStyle>
            <a:lvl1pPr algn="l" indent="0" marL="0">
              <a:buNone/>
              <a:defRPr lang="en-US" sz="1900" dirty="0">
                <a:solidFill>
                  <a:srgbClr val="9FB6BD"/>
                </a:solidFill>
              </a:defRPr>
            </a:lvl1pPr>
          </a:lstStyle>
          <a:p>
            <a:pPr algn="l" indent="0" marL="0">
              <a:buNone/>
            </a:pPr>
            <a:endParaRPr lang="en-US" sz="1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58368"/>
            <a:ext cx="10881360"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
          <p:cNvSpPr/>
          <p:nvPr/>
        </p:nvSpPr>
        <p:spPr>
          <a:xfrm>
            <a:off x="0" y="0"/>
            <a:ext cx="12161520" cy="50292"/>
          </a:xfrm>
          <a:prstGeom prst="rect">
            <a:avLst/>
          </a:prstGeom>
          <a:solidFill>
            <a:schemeClr val="accent1"/>
          </a:solidFill>
          <a:ln w="12700">
            <a:solidFill>
              <a:schemeClr val="accent1"/>
            </a:solidFill>
            <a:prstDash val="solid"/>
          </a:ln>
        </p:spPr>
      </p:sp>
      <p:sp>
        <p:nvSpPr>
          <p:cNvPr id="3" name="Text 1"/>
          <p:cNvSpPr txBox="1"/>
          <p:nvPr/>
        </p:nvSpPr>
        <p:spPr>
          <a:xfrm>
            <a:off x="640080" y="16002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DEVOPS CAPSTONE</a:t>
            </a:r>
            <a:endParaRPr lang="en-US" sz="1300" dirty="0"/>
          </a:p>
        </p:txBody>
      </p:sp>
      <p:sp>
        <p:nvSpPr>
          <p:cNvPr id="4" name="Text 0"/>
          <p:cNvSpPr/>
          <p:nvPr>
            <p:ph idx="100" type="title" hasCustomPrompt="1"/>
          </p:nvPr>
        </p:nvSpPr>
        <p:spPr>
          <a:xfrm>
            <a:off x="640080" y="2148840"/>
            <a:ext cx="10881360" cy="1371600"/>
          </a:xfrm>
          <a:prstGeom prst="rect">
            <a:avLst/>
          </a:prstGeom>
          <a:noFill/>
          <a:ln/>
        </p:spPr>
        <p:txBody>
          <a:bodyPr wrap="square" rtlCol="0" anchor="b"/>
          <a:lstStyle/>
          <a:p>
            <a:pPr algn="l" indent="0" marL="0">
              <a:buNone/>
            </a:pPr>
            <a:r>
              <a:rPr lang="en-US" sz="4800" b="1" dirty="0">
                <a:solidFill>
                  <a:schemeClr val="bg1"/>
                </a:solidFill>
              </a:rPr>
              <a:t>Issue Tracker, end to end</a:t>
            </a:r>
            <a:endParaRPr lang="en-US" sz="4800" dirty="0"/>
          </a:p>
        </p:txBody>
      </p:sp>
      <p:sp>
        <p:nvSpPr>
          <p:cNvPr id="5" name="Text 0"/>
          <p:cNvSpPr/>
          <p:nvPr>
            <p:ph idx="101" type="body" hasCustomPrompt="1"/>
          </p:nvPr>
        </p:nvSpPr>
        <p:spPr>
          <a:xfrm>
            <a:off x="640080" y="3611880"/>
            <a:ext cx="10881360" cy="822960"/>
          </a:xfrm>
          <a:prstGeom prst="rect">
            <a:avLst/>
          </a:prstGeom>
          <a:noFill/>
          <a:ln/>
        </p:spPr>
        <p:txBody>
          <a:bodyPr wrap="square" rtlCol="0" anchor="t"/>
          <a:lstStyle/>
          <a:p>
            <a:pPr algn="l" indent="0" marL="0">
              <a:buNone/>
            </a:pPr>
            <a:r>
              <a:rPr lang="en-US" sz="1900" dirty="0">
                <a:solidFill>
                  <a:srgbClr val="9FB6BD"/>
                </a:solidFill>
              </a:rPr>
              <a:t>From a laptop to a monitored Kubernetes deployment: tests, image scanning, a registry, Helm, Ingress, autoscaling, Prometheus and GitOps.</a:t>
            </a:r>
            <a:endParaRPr lang="en-US" sz="1900" dirty="0"/>
          </a:p>
        </p:txBody>
      </p:sp>
      <p:sp>
        <p:nvSpPr>
          <p:cNvPr id="6" name="Text 4"/>
          <p:cNvSpPr txBox="1"/>
          <p:nvPr/>
        </p:nvSpPr>
        <p:spPr>
          <a:xfrm>
            <a:off x="640080" y="4983480"/>
            <a:ext cx="10881360" cy="365760"/>
          </a:xfrm>
          <a:prstGeom prst="rect">
            <a:avLst/>
          </a:prstGeom>
          <a:noFill/>
          <a:ln/>
        </p:spPr>
        <p:txBody>
          <a:bodyPr wrap="square" lIns="0" tIns="0" rIns="0" bIns="0" rtlCol="0" anchor="ctr"/>
          <a:lstStyle/>
          <a:p>
            <a:pPr indent="0" marL="0">
              <a:buNone/>
            </a:pPr>
            <a:r>
              <a:rPr lang="en-US" sz="1500" b="1" dirty="0">
                <a:solidFill>
                  <a:srgbClr val="FFFFFF"/>
                </a:solidFill>
              </a:rPr>
              <a:t>Rajveer Bishnoi</a:t>
            </a:r>
            <a:pPr indent="0" marL="0">
              <a:buNone/>
            </a:pPr>
            <a:r>
              <a:rPr lang="en-US" sz="1500" dirty="0">
                <a:solidFill>
                  <a:srgbClr val="9FB6BD"/>
                </a:solidFill>
              </a:rPr>
              <a:t>   ·   Enrollment 24BCS10404   ·   Roll 10404</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What the project is</a:t>
            </a:r>
            <a:endParaRPr lang="en-US" sz="3200" dirty="0"/>
          </a:p>
        </p:txBody>
      </p:sp>
      <p:sp>
        <p:nvSpPr>
          <p:cNvPr id="3" name="Text 1"/>
          <p:cNvSpPr txBox="1"/>
          <p:nvPr/>
        </p:nvSpPr>
        <p:spPr>
          <a:xfrm>
            <a:off x="640080" y="1298448"/>
            <a:ext cx="6492240" cy="914400"/>
          </a:xfrm>
          <a:prstGeom prst="rect">
            <a:avLst/>
          </a:prstGeom>
          <a:noFill/>
          <a:ln/>
        </p:spPr>
        <p:txBody>
          <a:bodyPr wrap="square" lIns="0" tIns="0" rIns="0" bIns="0" rtlCol="0" anchor="t"/>
          <a:lstStyle/>
          <a:p>
            <a:pPr indent="0" marL="0">
              <a:lnSpc>
                <a:spcPct val="115000"/>
              </a:lnSpc>
              <a:buNone/>
            </a:pPr>
            <a:r>
              <a:rPr lang="en-US" sz="1400" dirty="0">
                <a:solidFill>
                  <a:srgbClr val="44525E"/>
                </a:solidFill>
              </a:rPr>
              <a:t>A small but complete issue tracker: create an issue, move it through open, in progress and done, filter it, and see counts. The application is deliberately modest so that the delivery pipeline around it can be the real subject.</a:t>
            </a:r>
            <a:endParaRPr lang="en-US" sz="1400" dirty="0"/>
          </a:p>
        </p:txBody>
      </p:sp>
      <p:sp>
        <p:nvSpPr>
          <p:cNvPr id="4" name="card-0.7-2.75"/>
          <p:cNvSpPr/>
          <p:nvPr/>
        </p:nvSpPr>
        <p:spPr>
          <a:xfrm>
            <a:off x="640080" y="2514600"/>
            <a:ext cx="2560320" cy="1691640"/>
          </a:xfrm>
          <a:prstGeom prst="roundRect">
            <a:avLst>
              <a:gd name="adj" fmla="val 5405"/>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5" name="Text 3"/>
          <p:cNvSpPr txBox="1"/>
          <p:nvPr/>
        </p:nvSpPr>
        <p:spPr>
          <a:xfrm>
            <a:off x="877824" y="2697480"/>
            <a:ext cx="2103120" cy="713232"/>
          </a:xfrm>
          <a:prstGeom prst="rect">
            <a:avLst/>
          </a:prstGeom>
          <a:noFill/>
          <a:ln/>
        </p:spPr>
        <p:txBody>
          <a:bodyPr wrap="square" lIns="0" tIns="0" rIns="0" bIns="0" rtlCol="0" anchor="b"/>
          <a:lstStyle/>
          <a:p>
            <a:pPr algn="l" indent="0" marL="0">
              <a:buNone/>
            </a:pPr>
            <a:r>
              <a:rPr lang="en-US" sz="4200" b="1" dirty="0">
                <a:solidFill>
                  <a:schemeClr val="accent2"/>
                </a:solidFill>
              </a:rPr>
              <a:t>3</a:t>
            </a:r>
            <a:endParaRPr lang="en-US" sz="4200" dirty="0"/>
          </a:p>
        </p:txBody>
      </p:sp>
      <p:sp>
        <p:nvSpPr>
          <p:cNvPr id="6" name="Text 4"/>
          <p:cNvSpPr txBox="1"/>
          <p:nvPr/>
        </p:nvSpPr>
        <p:spPr>
          <a:xfrm>
            <a:off x="877824" y="3429000"/>
            <a:ext cx="2103120" cy="420624"/>
          </a:xfrm>
          <a:prstGeom prst="rect">
            <a:avLst/>
          </a:prstGeom>
          <a:noFill/>
          <a:ln/>
        </p:spPr>
        <p:txBody>
          <a:bodyPr wrap="square" lIns="0" tIns="0" rIns="0" bIns="0" rtlCol="0" anchor="t"/>
          <a:lstStyle/>
          <a:p>
            <a:pPr algn="l" indent="0" marL="0">
              <a:buNone/>
            </a:pPr>
            <a:r>
              <a:rPr lang="en-US" sz="1150" dirty="0">
                <a:solidFill>
                  <a:srgbClr val="6B7A8F"/>
                </a:solidFill>
              </a:rPr>
              <a:t>services: React, FastAPI, PostgreSQL</a:t>
            </a:r>
            <a:endParaRPr lang="en-US" sz="1150" dirty="0"/>
          </a:p>
        </p:txBody>
      </p:sp>
      <p:sp>
        <p:nvSpPr>
          <p:cNvPr id="7" name="card-3.75-2.75"/>
          <p:cNvSpPr/>
          <p:nvPr/>
        </p:nvSpPr>
        <p:spPr>
          <a:xfrm>
            <a:off x="3429000" y="2514600"/>
            <a:ext cx="2560320" cy="1691640"/>
          </a:xfrm>
          <a:prstGeom prst="roundRect">
            <a:avLst>
              <a:gd name="adj" fmla="val 5405"/>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8" name="Text 6"/>
          <p:cNvSpPr txBox="1"/>
          <p:nvPr/>
        </p:nvSpPr>
        <p:spPr>
          <a:xfrm>
            <a:off x="3666744" y="2697480"/>
            <a:ext cx="2103120" cy="713232"/>
          </a:xfrm>
          <a:prstGeom prst="rect">
            <a:avLst/>
          </a:prstGeom>
          <a:noFill/>
          <a:ln/>
        </p:spPr>
        <p:txBody>
          <a:bodyPr wrap="square" lIns="0" tIns="0" rIns="0" bIns="0" rtlCol="0" anchor="b"/>
          <a:lstStyle/>
          <a:p>
            <a:pPr algn="l" indent="0" marL="0">
              <a:buNone/>
            </a:pPr>
            <a:r>
              <a:rPr lang="en-US" sz="4200" b="1" dirty="0">
                <a:solidFill>
                  <a:schemeClr val="accent2"/>
                </a:solidFill>
              </a:rPr>
              <a:t>5</a:t>
            </a:r>
            <a:endParaRPr lang="en-US" sz="4200" dirty="0"/>
          </a:p>
        </p:txBody>
      </p:sp>
      <p:sp>
        <p:nvSpPr>
          <p:cNvPr id="9" name="Text 7"/>
          <p:cNvSpPr txBox="1"/>
          <p:nvPr/>
        </p:nvSpPr>
        <p:spPr>
          <a:xfrm>
            <a:off x="3666744" y="3429000"/>
            <a:ext cx="2103120" cy="420624"/>
          </a:xfrm>
          <a:prstGeom prst="rect">
            <a:avLst/>
          </a:prstGeom>
          <a:noFill/>
          <a:ln/>
        </p:spPr>
        <p:txBody>
          <a:bodyPr wrap="square" lIns="0" tIns="0" rIns="0" bIns="0" rtlCol="0" anchor="t"/>
          <a:lstStyle/>
          <a:p>
            <a:pPr algn="l" indent="0" marL="0">
              <a:buNone/>
            </a:pPr>
            <a:r>
              <a:rPr lang="en-US" sz="1150" dirty="0">
                <a:solidFill>
                  <a:srgbClr val="6B7A8F"/>
                </a:solidFill>
              </a:rPr>
              <a:t>CI jobs, all green</a:t>
            </a:r>
            <a:endParaRPr lang="en-US" sz="1150" dirty="0"/>
          </a:p>
        </p:txBody>
      </p:sp>
      <p:sp>
        <p:nvSpPr>
          <p:cNvPr id="10" name="card-6.8-2.75"/>
          <p:cNvSpPr/>
          <p:nvPr/>
        </p:nvSpPr>
        <p:spPr>
          <a:xfrm>
            <a:off x="6217920" y="2514600"/>
            <a:ext cx="2560320" cy="1691640"/>
          </a:xfrm>
          <a:prstGeom prst="roundRect">
            <a:avLst>
              <a:gd name="adj" fmla="val 5405"/>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1" name="Text 9"/>
          <p:cNvSpPr txBox="1"/>
          <p:nvPr/>
        </p:nvSpPr>
        <p:spPr>
          <a:xfrm>
            <a:off x="6455664" y="2697480"/>
            <a:ext cx="2103120" cy="713232"/>
          </a:xfrm>
          <a:prstGeom prst="rect">
            <a:avLst/>
          </a:prstGeom>
          <a:noFill/>
          <a:ln/>
        </p:spPr>
        <p:txBody>
          <a:bodyPr wrap="square" lIns="0" tIns="0" rIns="0" bIns="0" rtlCol="0" anchor="b"/>
          <a:lstStyle/>
          <a:p>
            <a:pPr algn="l" indent="0" marL="0">
              <a:buNone/>
            </a:pPr>
            <a:r>
              <a:rPr lang="en-US" sz="4200" b="1" dirty="0">
                <a:solidFill>
                  <a:schemeClr val="accent2"/>
                </a:solidFill>
              </a:rPr>
              <a:t>8</a:t>
            </a:r>
            <a:endParaRPr lang="en-US" sz="4200" dirty="0"/>
          </a:p>
        </p:txBody>
      </p:sp>
      <p:sp>
        <p:nvSpPr>
          <p:cNvPr id="12" name="Text 10"/>
          <p:cNvSpPr txBox="1"/>
          <p:nvPr/>
        </p:nvSpPr>
        <p:spPr>
          <a:xfrm>
            <a:off x="6455664" y="3429000"/>
            <a:ext cx="2103120" cy="420624"/>
          </a:xfrm>
          <a:prstGeom prst="rect">
            <a:avLst/>
          </a:prstGeom>
          <a:noFill/>
          <a:ln/>
        </p:spPr>
        <p:txBody>
          <a:bodyPr wrap="square" lIns="0" tIns="0" rIns="0" bIns="0" rtlCol="0" anchor="t"/>
          <a:lstStyle/>
          <a:p>
            <a:pPr algn="l" indent="0" marL="0">
              <a:buNone/>
            </a:pPr>
            <a:r>
              <a:rPr lang="en-US" sz="1150" dirty="0">
                <a:solidFill>
                  <a:srgbClr val="6B7A8F"/>
                </a:solidFill>
              </a:rPr>
              <a:t>backend tests, all passing</a:t>
            </a:r>
            <a:endParaRPr lang="en-US" sz="1150" dirty="0"/>
          </a:p>
        </p:txBody>
      </p:sp>
      <p:sp>
        <p:nvSpPr>
          <p:cNvPr id="13" name="card-9.849999999999998-2.75"/>
          <p:cNvSpPr/>
          <p:nvPr/>
        </p:nvSpPr>
        <p:spPr>
          <a:xfrm>
            <a:off x="9006840" y="2514600"/>
            <a:ext cx="2560320" cy="1691640"/>
          </a:xfrm>
          <a:prstGeom prst="roundRect">
            <a:avLst>
              <a:gd name="adj" fmla="val 5405"/>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Text 12"/>
          <p:cNvSpPr txBox="1"/>
          <p:nvPr/>
        </p:nvSpPr>
        <p:spPr>
          <a:xfrm>
            <a:off x="9244584" y="2697480"/>
            <a:ext cx="2103120" cy="713232"/>
          </a:xfrm>
          <a:prstGeom prst="rect">
            <a:avLst/>
          </a:prstGeom>
          <a:noFill/>
          <a:ln/>
        </p:spPr>
        <p:txBody>
          <a:bodyPr wrap="square" lIns="0" tIns="0" rIns="0" bIns="0" rtlCol="0" anchor="b"/>
          <a:lstStyle/>
          <a:p>
            <a:pPr algn="l" indent="0" marL="0">
              <a:buNone/>
            </a:pPr>
            <a:r>
              <a:rPr lang="en-US" sz="4200" b="1" dirty="0">
                <a:solidFill>
                  <a:schemeClr val="accent2"/>
                </a:solidFill>
              </a:rPr>
              <a:t>0</a:t>
            </a:r>
            <a:endParaRPr lang="en-US" sz="4200" dirty="0"/>
          </a:p>
        </p:txBody>
      </p:sp>
      <p:sp>
        <p:nvSpPr>
          <p:cNvPr id="15" name="Text 13"/>
          <p:cNvSpPr txBox="1"/>
          <p:nvPr/>
        </p:nvSpPr>
        <p:spPr>
          <a:xfrm>
            <a:off x="9244584" y="3429000"/>
            <a:ext cx="2103120" cy="420624"/>
          </a:xfrm>
          <a:prstGeom prst="rect">
            <a:avLst/>
          </a:prstGeom>
          <a:noFill/>
          <a:ln/>
        </p:spPr>
        <p:txBody>
          <a:bodyPr wrap="square" lIns="0" tIns="0" rIns="0" bIns="0" rtlCol="0" anchor="t"/>
          <a:lstStyle/>
          <a:p>
            <a:pPr algn="l" indent="0" marL="0">
              <a:buNone/>
            </a:pPr>
            <a:r>
              <a:rPr lang="en-US" sz="1150" dirty="0">
                <a:solidFill>
                  <a:srgbClr val="6B7A8F"/>
                </a:solidFill>
              </a:rPr>
              <a:t>fixable HIGH or CRITICAL CVEs</a:t>
            </a:r>
            <a:endParaRPr lang="en-US" sz="1150" dirty="0"/>
          </a:p>
        </p:txBody>
      </p:sp>
      <p:sp>
        <p:nvSpPr>
          <p:cNvPr id="16" name="Text 14"/>
          <p:cNvSpPr txBox="1"/>
          <p:nvPr/>
        </p:nvSpPr>
        <p:spPr>
          <a:xfrm>
            <a:off x="640080" y="4526280"/>
            <a:ext cx="10881360" cy="82296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The numbers above come from pipeline run 38892471244 on this repository: the two images are built, scanned and pushed to GHCR, then deployed to a kind cluster and smoke tested before the run is allowed to pass.</a:t>
            </a:r>
            <a:endParaRPr lang="en-US" sz="12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Architecture</a:t>
            </a:r>
            <a:endParaRPr lang="en-US" sz="3200" dirty="0"/>
          </a:p>
        </p:txBody>
      </p:sp>
      <p:sp>
        <p:nvSpPr>
          <p:cNvPr id="3" name="Text 1"/>
          <p:cNvSpPr txBox="1"/>
          <p:nvPr/>
        </p:nvSpPr>
        <p:spPr>
          <a:xfrm>
            <a:off x="640080" y="1280160"/>
            <a:ext cx="4572000" cy="292608"/>
          </a:xfrm>
          <a:prstGeom prst="rect">
            <a:avLst/>
          </a:prstGeom>
          <a:noFill/>
          <a:ln/>
        </p:spPr>
        <p:txBody>
          <a:bodyPr wrap="square" lIns="0" tIns="0" rIns="0" bIns="0" rtlCol="0" anchor="ctr"/>
          <a:lstStyle/>
          <a:p>
            <a:pPr indent="0" marL="0">
              <a:buNone/>
            </a:pPr>
            <a:r>
              <a:rPr lang="en-US" sz="1500" b="1" dirty="0">
                <a:solidFill>
                  <a:schemeClr val="tx1"/>
                </a:solidFill>
              </a:rPr>
              <a:t>Delivery path</a:t>
            </a:r>
            <a:endParaRPr lang="en-US" sz="1500" dirty="0"/>
          </a:p>
        </p:txBody>
      </p:sp>
      <p:sp>
        <p:nvSpPr>
          <p:cNvPr id="4" name="b-Developer"/>
          <p:cNvSpPr/>
          <p:nvPr/>
        </p:nvSpPr>
        <p:spPr>
          <a:xfrm>
            <a:off x="640080" y="1664208"/>
            <a:ext cx="1691640" cy="749808"/>
          </a:xfrm>
          <a:prstGeom prst="roundRect">
            <a:avLst>
              <a:gd name="adj" fmla="val 10976"/>
            </a:avLst>
          </a:prstGeom>
          <a:solidFill>
            <a:schemeClr val="bg2"/>
          </a:solidFill>
          <a:ln w="12700">
            <a:solidFill>
              <a:schemeClr val="bg2"/>
            </a:solidFill>
            <a:prstDash val="solid"/>
          </a:ln>
          <a:effectLst>
            <a:outerShdw sx="100000" sy="100000" kx="0" ky="0" algn="bl" rotWithShape="0" blurRad="127000" dist="25400" dir="5400000">
              <a:srgbClr val="0E1620">
                <a:alpha val="10000"/>
              </a:srgbClr>
            </a:outerShdw>
          </a:effectLst>
        </p:spPr>
      </p:sp>
      <p:sp>
        <p:nvSpPr>
          <p:cNvPr id="5" name="Text 3"/>
          <p:cNvSpPr txBox="1"/>
          <p:nvPr/>
        </p:nvSpPr>
        <p:spPr>
          <a:xfrm>
            <a:off x="768096" y="1755648"/>
            <a:ext cx="1435608" cy="274320"/>
          </a:xfrm>
          <a:prstGeom prst="rect">
            <a:avLst/>
          </a:prstGeom>
          <a:noFill/>
          <a:ln/>
        </p:spPr>
        <p:txBody>
          <a:bodyPr wrap="square" lIns="0" tIns="0" rIns="0" bIns="0" rtlCol="0" anchor="ctr"/>
          <a:lstStyle/>
          <a:p>
            <a:pPr algn="ctr" indent="0" marL="0">
              <a:buNone/>
            </a:pPr>
            <a:r>
              <a:rPr lang="en-US" sz="1250" b="1" dirty="0">
                <a:solidFill>
                  <a:schemeClr val="tx1"/>
                </a:solidFill>
              </a:rPr>
              <a:t>Developer</a:t>
            </a:r>
            <a:endParaRPr lang="en-US" sz="1250" dirty="0"/>
          </a:p>
        </p:txBody>
      </p:sp>
      <p:sp>
        <p:nvSpPr>
          <p:cNvPr id="6" name="Text 4"/>
          <p:cNvSpPr txBox="1"/>
          <p:nvPr/>
        </p:nvSpPr>
        <p:spPr>
          <a:xfrm>
            <a:off x="768096" y="2029968"/>
            <a:ext cx="1435608" cy="310896"/>
          </a:xfrm>
          <a:prstGeom prst="rect">
            <a:avLst/>
          </a:prstGeom>
          <a:noFill/>
          <a:ln/>
        </p:spPr>
        <p:txBody>
          <a:bodyPr wrap="square" lIns="0" tIns="0" rIns="0" bIns="0" rtlCol="0" anchor="t"/>
          <a:lstStyle/>
          <a:p>
            <a:pPr algn="ctr" indent="0" marL="0">
              <a:buNone/>
            </a:pPr>
            <a:r>
              <a:rPr lang="en-US" sz="1000" dirty="0">
                <a:solidFill>
                  <a:schemeClr val="tx1"/>
                </a:solidFill>
              </a:rPr>
              <a:t>git push</a:t>
            </a:r>
            <a:endParaRPr lang="en-US" sz="1000" dirty="0"/>
          </a:p>
        </p:txBody>
      </p:sp>
      <p:sp>
        <p:nvSpPr>
          <p:cNvPr id="7" name="a-2.65-2.12"/>
          <p:cNvSpPr/>
          <p:nvPr/>
        </p:nvSpPr>
        <p:spPr>
          <a:xfrm>
            <a:off x="2423160" y="1938528"/>
            <a:ext cx="457200" cy="201168"/>
          </a:xfrm>
          <a:prstGeom prst="rightArrow">
            <a:avLst/>
          </a:prstGeom>
          <a:solidFill>
            <a:srgbClr val="B9C7CE"/>
          </a:solidFill>
          <a:ln w="12700">
            <a:solidFill>
              <a:srgbClr val="B9C7CE"/>
            </a:solidFill>
            <a:prstDash val="solid"/>
          </a:ln>
        </p:spPr>
      </p:sp>
      <p:sp>
        <p:nvSpPr>
          <p:cNvPr id="8" name="b-GitHub Actions"/>
          <p:cNvSpPr/>
          <p:nvPr/>
        </p:nvSpPr>
        <p:spPr>
          <a:xfrm>
            <a:off x="2971800" y="1664208"/>
            <a:ext cx="1828800" cy="749808"/>
          </a:xfrm>
          <a:prstGeom prst="roundRect">
            <a:avLst>
              <a:gd name="adj" fmla="val 10976"/>
            </a:avLst>
          </a:prstGeom>
          <a:solidFill>
            <a:schemeClr val="accent6"/>
          </a:solidFill>
          <a:ln w="12700">
            <a:solidFill>
              <a:schemeClr val="accent6"/>
            </a:solidFill>
            <a:prstDash val="solid"/>
          </a:ln>
          <a:effectLst>
            <a:outerShdw sx="100000" sy="100000" kx="0" ky="0" algn="bl" rotWithShape="0" blurRad="127000" dist="25400" dir="5400000">
              <a:srgbClr val="0E1620">
                <a:alpha val="10000"/>
              </a:srgbClr>
            </a:outerShdw>
          </a:effectLst>
        </p:spPr>
      </p:sp>
      <p:sp>
        <p:nvSpPr>
          <p:cNvPr id="9" name="Text 7"/>
          <p:cNvSpPr txBox="1"/>
          <p:nvPr/>
        </p:nvSpPr>
        <p:spPr>
          <a:xfrm>
            <a:off x="3099816" y="1755648"/>
            <a:ext cx="1572768" cy="274320"/>
          </a:xfrm>
          <a:prstGeom prst="rect">
            <a:avLst/>
          </a:prstGeom>
          <a:noFill/>
          <a:ln/>
        </p:spPr>
        <p:txBody>
          <a:bodyPr wrap="square" lIns="0" tIns="0" rIns="0" bIns="0" rtlCol="0" anchor="ctr"/>
          <a:lstStyle/>
          <a:p>
            <a:pPr algn="ctr" indent="0" marL="0">
              <a:buNone/>
            </a:pPr>
            <a:r>
              <a:rPr lang="en-US" sz="1250" b="1" dirty="0">
                <a:solidFill>
                  <a:srgbClr val="FFFFFF"/>
                </a:solidFill>
              </a:rPr>
              <a:t>GitHub Actions</a:t>
            </a:r>
            <a:endParaRPr lang="en-US" sz="1250" dirty="0"/>
          </a:p>
        </p:txBody>
      </p:sp>
      <p:sp>
        <p:nvSpPr>
          <p:cNvPr id="10" name="Text 8"/>
          <p:cNvSpPr txBox="1"/>
          <p:nvPr/>
        </p:nvSpPr>
        <p:spPr>
          <a:xfrm>
            <a:off x="3099816" y="2029968"/>
            <a:ext cx="1572768" cy="310896"/>
          </a:xfrm>
          <a:prstGeom prst="rect">
            <a:avLst/>
          </a:prstGeom>
          <a:noFill/>
          <a:ln/>
        </p:spPr>
        <p:txBody>
          <a:bodyPr wrap="square" lIns="0" tIns="0" rIns="0" bIns="0" rtlCol="0" anchor="t"/>
          <a:lstStyle/>
          <a:p>
            <a:pPr algn="ctr" indent="0" marL="0">
              <a:buNone/>
            </a:pPr>
            <a:r>
              <a:rPr lang="en-US" sz="1000" dirty="0">
                <a:solidFill>
                  <a:srgbClr val="FFFFFF"/>
                </a:solidFill>
              </a:rPr>
              <a:t>test · scan · push</a:t>
            </a:r>
            <a:endParaRPr lang="en-US" sz="1000" dirty="0"/>
          </a:p>
        </p:txBody>
      </p:sp>
      <p:sp>
        <p:nvSpPr>
          <p:cNvPr id="11" name="a-5.3500000000000005-2.12"/>
          <p:cNvSpPr/>
          <p:nvPr/>
        </p:nvSpPr>
        <p:spPr>
          <a:xfrm>
            <a:off x="4892040" y="1938528"/>
            <a:ext cx="457200" cy="201168"/>
          </a:xfrm>
          <a:prstGeom prst="rightArrow">
            <a:avLst/>
          </a:prstGeom>
          <a:solidFill>
            <a:srgbClr val="B9C7CE"/>
          </a:solidFill>
          <a:ln w="12700">
            <a:solidFill>
              <a:srgbClr val="B9C7CE"/>
            </a:solidFill>
            <a:prstDash val="solid"/>
          </a:ln>
        </p:spPr>
      </p:sp>
      <p:sp>
        <p:nvSpPr>
          <p:cNvPr id="12" name="b-GHCR"/>
          <p:cNvSpPr/>
          <p:nvPr/>
        </p:nvSpPr>
        <p:spPr>
          <a:xfrm>
            <a:off x="5440680" y="1664208"/>
            <a:ext cx="1737360" cy="749808"/>
          </a:xfrm>
          <a:prstGeom prst="roundRect">
            <a:avLst>
              <a:gd name="adj" fmla="val 10976"/>
            </a:avLst>
          </a:prstGeom>
          <a:solidFill>
            <a:schemeClr val="accent2"/>
          </a:solidFill>
          <a:ln w="12700">
            <a:solidFill>
              <a:schemeClr val="accent2"/>
            </a:solidFill>
            <a:prstDash val="solid"/>
          </a:ln>
          <a:effectLst>
            <a:outerShdw sx="100000" sy="100000" kx="0" ky="0" algn="bl" rotWithShape="0" blurRad="127000" dist="25400" dir="5400000">
              <a:srgbClr val="0E1620">
                <a:alpha val="10000"/>
              </a:srgbClr>
            </a:outerShdw>
          </a:effectLst>
        </p:spPr>
      </p:sp>
      <p:sp>
        <p:nvSpPr>
          <p:cNvPr id="13" name="Text 11"/>
          <p:cNvSpPr txBox="1"/>
          <p:nvPr/>
        </p:nvSpPr>
        <p:spPr>
          <a:xfrm>
            <a:off x="5568696" y="1755648"/>
            <a:ext cx="1481328" cy="274320"/>
          </a:xfrm>
          <a:prstGeom prst="rect">
            <a:avLst/>
          </a:prstGeom>
          <a:noFill/>
          <a:ln/>
        </p:spPr>
        <p:txBody>
          <a:bodyPr wrap="square" lIns="0" tIns="0" rIns="0" bIns="0" rtlCol="0" anchor="ctr"/>
          <a:lstStyle/>
          <a:p>
            <a:pPr algn="ctr" indent="0" marL="0">
              <a:buNone/>
            </a:pPr>
            <a:r>
              <a:rPr lang="en-US" sz="1250" b="1" dirty="0">
                <a:solidFill>
                  <a:srgbClr val="FFFFFF"/>
                </a:solidFill>
              </a:rPr>
              <a:t>GHCR</a:t>
            </a:r>
            <a:endParaRPr lang="en-US" sz="1250" dirty="0"/>
          </a:p>
        </p:txBody>
      </p:sp>
      <p:sp>
        <p:nvSpPr>
          <p:cNvPr id="14" name="Text 12"/>
          <p:cNvSpPr txBox="1"/>
          <p:nvPr/>
        </p:nvSpPr>
        <p:spPr>
          <a:xfrm>
            <a:off x="5568696" y="2029968"/>
            <a:ext cx="1481328" cy="310896"/>
          </a:xfrm>
          <a:prstGeom prst="rect">
            <a:avLst/>
          </a:prstGeom>
          <a:noFill/>
          <a:ln/>
        </p:spPr>
        <p:txBody>
          <a:bodyPr wrap="square" lIns="0" tIns="0" rIns="0" bIns="0" rtlCol="0" anchor="t"/>
          <a:lstStyle/>
          <a:p>
            <a:pPr algn="ctr" indent="0" marL="0">
              <a:buNone/>
            </a:pPr>
            <a:r>
              <a:rPr lang="en-US" sz="1000" dirty="0">
                <a:solidFill>
                  <a:srgbClr val="FFFFFF"/>
                </a:solidFill>
              </a:rPr>
              <a:t>image per SHA</a:t>
            </a:r>
            <a:endParaRPr lang="en-US" sz="1000" dirty="0"/>
          </a:p>
        </p:txBody>
      </p:sp>
      <p:sp>
        <p:nvSpPr>
          <p:cNvPr id="15" name="a-7.95-2.12"/>
          <p:cNvSpPr/>
          <p:nvPr/>
        </p:nvSpPr>
        <p:spPr>
          <a:xfrm>
            <a:off x="7269480" y="1938528"/>
            <a:ext cx="457200" cy="201168"/>
          </a:xfrm>
          <a:prstGeom prst="rightArrow">
            <a:avLst/>
          </a:prstGeom>
          <a:solidFill>
            <a:srgbClr val="B9C7CE"/>
          </a:solidFill>
          <a:ln w="12700">
            <a:solidFill>
              <a:srgbClr val="B9C7CE"/>
            </a:solidFill>
            <a:prstDash val="solid"/>
          </a:ln>
        </p:spPr>
      </p:sp>
      <p:sp>
        <p:nvSpPr>
          <p:cNvPr id="16" name="b-Argo CD"/>
          <p:cNvSpPr/>
          <p:nvPr/>
        </p:nvSpPr>
        <p:spPr>
          <a:xfrm>
            <a:off x="7818120" y="1664208"/>
            <a:ext cx="1828800" cy="749808"/>
          </a:xfrm>
          <a:prstGeom prst="roundRect">
            <a:avLst>
              <a:gd name="adj" fmla="val 10976"/>
            </a:avLst>
          </a:prstGeom>
          <a:solidFill>
            <a:schemeClr val="accent3"/>
          </a:solidFill>
          <a:ln w="12700">
            <a:solidFill>
              <a:schemeClr val="accent3"/>
            </a:solidFill>
            <a:prstDash val="solid"/>
          </a:ln>
          <a:effectLst>
            <a:outerShdw sx="100000" sy="100000" kx="0" ky="0" algn="bl" rotWithShape="0" blurRad="127000" dist="25400" dir="5400000">
              <a:srgbClr val="0E1620">
                <a:alpha val="10000"/>
              </a:srgbClr>
            </a:outerShdw>
          </a:effectLst>
        </p:spPr>
      </p:sp>
      <p:sp>
        <p:nvSpPr>
          <p:cNvPr id="17" name="Text 15"/>
          <p:cNvSpPr txBox="1"/>
          <p:nvPr/>
        </p:nvSpPr>
        <p:spPr>
          <a:xfrm>
            <a:off x="7946136" y="1755648"/>
            <a:ext cx="1572768" cy="274320"/>
          </a:xfrm>
          <a:prstGeom prst="rect">
            <a:avLst/>
          </a:prstGeom>
          <a:noFill/>
          <a:ln/>
        </p:spPr>
        <p:txBody>
          <a:bodyPr wrap="square" lIns="0" tIns="0" rIns="0" bIns="0" rtlCol="0" anchor="ctr"/>
          <a:lstStyle/>
          <a:p>
            <a:pPr algn="ctr" indent="0" marL="0">
              <a:buNone/>
            </a:pPr>
            <a:r>
              <a:rPr lang="en-US" sz="1250" b="1" dirty="0">
                <a:solidFill>
                  <a:srgbClr val="0E1620"/>
                </a:solidFill>
              </a:rPr>
              <a:t>Argo CD</a:t>
            </a:r>
            <a:endParaRPr lang="en-US" sz="1250" dirty="0"/>
          </a:p>
        </p:txBody>
      </p:sp>
      <p:sp>
        <p:nvSpPr>
          <p:cNvPr id="18" name="Text 16"/>
          <p:cNvSpPr txBox="1"/>
          <p:nvPr/>
        </p:nvSpPr>
        <p:spPr>
          <a:xfrm>
            <a:off x="7946136" y="2029968"/>
            <a:ext cx="1572768" cy="310896"/>
          </a:xfrm>
          <a:prstGeom prst="rect">
            <a:avLst/>
          </a:prstGeom>
          <a:noFill/>
          <a:ln/>
        </p:spPr>
        <p:txBody>
          <a:bodyPr wrap="square" lIns="0" tIns="0" rIns="0" bIns="0" rtlCol="0" anchor="t"/>
          <a:lstStyle/>
          <a:p>
            <a:pPr algn="ctr" indent="0" marL="0">
              <a:buNone/>
            </a:pPr>
            <a:r>
              <a:rPr lang="en-US" sz="1000" dirty="0">
                <a:solidFill>
                  <a:srgbClr val="0E1620"/>
                </a:solidFill>
              </a:rPr>
              <a:t>syncs the chart</a:t>
            </a:r>
            <a:endParaRPr lang="en-US" sz="1000" dirty="0"/>
          </a:p>
        </p:txBody>
      </p:sp>
      <p:sp>
        <p:nvSpPr>
          <p:cNvPr id="19" name="Text 17"/>
          <p:cNvSpPr txBox="1"/>
          <p:nvPr/>
        </p:nvSpPr>
        <p:spPr>
          <a:xfrm>
            <a:off x="640080" y="2834640"/>
            <a:ext cx="4572000" cy="292608"/>
          </a:xfrm>
          <a:prstGeom prst="rect">
            <a:avLst/>
          </a:prstGeom>
          <a:noFill/>
          <a:ln/>
        </p:spPr>
        <p:txBody>
          <a:bodyPr wrap="square" lIns="0" tIns="0" rIns="0" bIns="0" rtlCol="0" anchor="ctr"/>
          <a:lstStyle/>
          <a:p>
            <a:pPr indent="0" marL="0">
              <a:buNone/>
            </a:pPr>
            <a:r>
              <a:rPr lang="en-US" sz="1500" b="1" dirty="0">
                <a:solidFill>
                  <a:schemeClr val="tx1"/>
                </a:solidFill>
              </a:rPr>
              <a:t>Runtime, inside the cluster</a:t>
            </a:r>
            <a:endParaRPr lang="en-US" sz="1500" dirty="0"/>
          </a:p>
        </p:txBody>
      </p:sp>
      <p:sp>
        <p:nvSpPr>
          <p:cNvPr id="20" name="b-Ingress"/>
          <p:cNvSpPr/>
          <p:nvPr/>
        </p:nvSpPr>
        <p:spPr>
          <a:xfrm>
            <a:off x="640080" y="3218688"/>
            <a:ext cx="1691640" cy="749808"/>
          </a:xfrm>
          <a:prstGeom prst="roundRect">
            <a:avLst>
              <a:gd name="adj" fmla="val 10976"/>
            </a:avLst>
          </a:prstGeom>
          <a:solidFill>
            <a:schemeClr val="bg2"/>
          </a:solidFill>
          <a:ln w="12700">
            <a:solidFill>
              <a:schemeClr val="bg2"/>
            </a:solidFill>
            <a:prstDash val="solid"/>
          </a:ln>
          <a:effectLst>
            <a:outerShdw sx="100000" sy="100000" kx="0" ky="0" algn="bl" rotWithShape="0" blurRad="127000" dist="25400" dir="5400000">
              <a:srgbClr val="0E1620">
                <a:alpha val="10000"/>
              </a:srgbClr>
            </a:outerShdw>
          </a:effectLst>
        </p:spPr>
      </p:sp>
      <p:sp>
        <p:nvSpPr>
          <p:cNvPr id="21" name="Text 19"/>
          <p:cNvSpPr txBox="1"/>
          <p:nvPr/>
        </p:nvSpPr>
        <p:spPr>
          <a:xfrm>
            <a:off x="768096" y="3310128"/>
            <a:ext cx="1435608" cy="274320"/>
          </a:xfrm>
          <a:prstGeom prst="rect">
            <a:avLst/>
          </a:prstGeom>
          <a:noFill/>
          <a:ln/>
        </p:spPr>
        <p:txBody>
          <a:bodyPr wrap="square" lIns="0" tIns="0" rIns="0" bIns="0" rtlCol="0" anchor="ctr"/>
          <a:lstStyle/>
          <a:p>
            <a:pPr algn="ctr" indent="0" marL="0">
              <a:buNone/>
            </a:pPr>
            <a:r>
              <a:rPr lang="en-US" sz="1250" b="1" dirty="0">
                <a:solidFill>
                  <a:schemeClr val="tx1"/>
                </a:solidFill>
              </a:rPr>
              <a:t>Ingress</a:t>
            </a:r>
            <a:endParaRPr lang="en-US" sz="1250" dirty="0"/>
          </a:p>
        </p:txBody>
      </p:sp>
      <p:sp>
        <p:nvSpPr>
          <p:cNvPr id="22" name="Text 20"/>
          <p:cNvSpPr txBox="1"/>
          <p:nvPr/>
        </p:nvSpPr>
        <p:spPr>
          <a:xfrm>
            <a:off x="768096" y="3584448"/>
            <a:ext cx="1435608" cy="310896"/>
          </a:xfrm>
          <a:prstGeom prst="rect">
            <a:avLst/>
          </a:prstGeom>
          <a:noFill/>
          <a:ln/>
        </p:spPr>
        <p:txBody>
          <a:bodyPr wrap="square" lIns="0" tIns="0" rIns="0" bIns="0" rtlCol="0" anchor="t"/>
          <a:lstStyle/>
          <a:p>
            <a:pPr algn="ctr" indent="0" marL="0">
              <a:buNone/>
            </a:pPr>
            <a:r>
              <a:rPr lang="en-US" sz="1000" dirty="0">
                <a:solidFill>
                  <a:schemeClr val="tx1"/>
                </a:solidFill>
              </a:rPr>
              <a:t>tracker.local</a:t>
            </a:r>
            <a:endParaRPr lang="en-US" sz="1000" dirty="0"/>
          </a:p>
        </p:txBody>
      </p:sp>
      <p:sp>
        <p:nvSpPr>
          <p:cNvPr id="23" name="a-2.65-3.82"/>
          <p:cNvSpPr/>
          <p:nvPr/>
        </p:nvSpPr>
        <p:spPr>
          <a:xfrm>
            <a:off x="2423160" y="3493008"/>
            <a:ext cx="457200" cy="201168"/>
          </a:xfrm>
          <a:prstGeom prst="rightArrow">
            <a:avLst/>
          </a:prstGeom>
          <a:solidFill>
            <a:srgbClr val="B9C7CE"/>
          </a:solidFill>
          <a:ln w="12700">
            <a:solidFill>
              <a:srgbClr val="B9C7CE"/>
            </a:solidFill>
            <a:prstDash val="solid"/>
          </a:ln>
        </p:spPr>
      </p:sp>
      <p:sp>
        <p:nvSpPr>
          <p:cNvPr id="24" name="b-frontend"/>
          <p:cNvSpPr/>
          <p:nvPr/>
        </p:nvSpPr>
        <p:spPr>
          <a:xfrm>
            <a:off x="2971800" y="3218688"/>
            <a:ext cx="1828800" cy="749808"/>
          </a:xfrm>
          <a:prstGeom prst="roundRect">
            <a:avLst>
              <a:gd name="adj" fmla="val 10976"/>
            </a:avLst>
          </a:prstGeom>
          <a:solidFill>
            <a:schemeClr val="accent1"/>
          </a:solidFill>
          <a:ln w="12700">
            <a:solidFill>
              <a:schemeClr val="accent1"/>
            </a:solidFill>
            <a:prstDash val="solid"/>
          </a:ln>
          <a:effectLst>
            <a:outerShdw sx="100000" sy="100000" kx="0" ky="0" algn="bl" rotWithShape="0" blurRad="127000" dist="25400" dir="5400000">
              <a:srgbClr val="0E1620">
                <a:alpha val="10000"/>
              </a:srgbClr>
            </a:outerShdw>
          </a:effectLst>
        </p:spPr>
      </p:sp>
      <p:sp>
        <p:nvSpPr>
          <p:cNvPr id="25" name="Text 23"/>
          <p:cNvSpPr txBox="1"/>
          <p:nvPr/>
        </p:nvSpPr>
        <p:spPr>
          <a:xfrm>
            <a:off x="3099816" y="3310128"/>
            <a:ext cx="1572768" cy="274320"/>
          </a:xfrm>
          <a:prstGeom prst="rect">
            <a:avLst/>
          </a:prstGeom>
          <a:noFill/>
          <a:ln/>
        </p:spPr>
        <p:txBody>
          <a:bodyPr wrap="square" lIns="0" tIns="0" rIns="0" bIns="0" rtlCol="0" anchor="ctr"/>
          <a:lstStyle/>
          <a:p>
            <a:pPr algn="ctr" indent="0" marL="0">
              <a:buNone/>
            </a:pPr>
            <a:r>
              <a:rPr lang="en-US" sz="1250" b="1" dirty="0">
                <a:solidFill>
                  <a:srgbClr val="0E1620"/>
                </a:solidFill>
              </a:rPr>
              <a:t>frontend</a:t>
            </a:r>
            <a:endParaRPr lang="en-US" sz="1250" dirty="0"/>
          </a:p>
        </p:txBody>
      </p:sp>
      <p:sp>
        <p:nvSpPr>
          <p:cNvPr id="26" name="Text 24"/>
          <p:cNvSpPr txBox="1"/>
          <p:nvPr/>
        </p:nvSpPr>
        <p:spPr>
          <a:xfrm>
            <a:off x="3099816" y="3584448"/>
            <a:ext cx="1572768" cy="310896"/>
          </a:xfrm>
          <a:prstGeom prst="rect">
            <a:avLst/>
          </a:prstGeom>
          <a:noFill/>
          <a:ln/>
        </p:spPr>
        <p:txBody>
          <a:bodyPr wrap="square" lIns="0" tIns="0" rIns="0" bIns="0" rtlCol="0" anchor="t"/>
          <a:lstStyle/>
          <a:p>
            <a:pPr algn="ctr" indent="0" marL="0">
              <a:buNone/>
            </a:pPr>
            <a:r>
              <a:rPr lang="en-US" sz="1000" dirty="0">
                <a:solidFill>
                  <a:srgbClr val="0E1620"/>
                </a:solidFill>
              </a:rPr>
              <a:t>nginx, 2 replicas</a:t>
            </a:r>
            <a:endParaRPr lang="en-US" sz="1000" dirty="0"/>
          </a:p>
        </p:txBody>
      </p:sp>
      <p:sp>
        <p:nvSpPr>
          <p:cNvPr id="27" name="a-5.3500000000000005-3.82"/>
          <p:cNvSpPr/>
          <p:nvPr/>
        </p:nvSpPr>
        <p:spPr>
          <a:xfrm>
            <a:off x="4892040" y="3493008"/>
            <a:ext cx="457200" cy="201168"/>
          </a:xfrm>
          <a:prstGeom prst="rightArrow">
            <a:avLst/>
          </a:prstGeom>
          <a:solidFill>
            <a:srgbClr val="B9C7CE"/>
          </a:solidFill>
          <a:ln w="12700">
            <a:solidFill>
              <a:srgbClr val="B9C7CE"/>
            </a:solidFill>
            <a:prstDash val="solid"/>
          </a:ln>
        </p:spPr>
      </p:sp>
      <p:sp>
        <p:nvSpPr>
          <p:cNvPr id="28" name="b-backend"/>
          <p:cNvSpPr/>
          <p:nvPr/>
        </p:nvSpPr>
        <p:spPr>
          <a:xfrm>
            <a:off x="5440680" y="3218688"/>
            <a:ext cx="1737360" cy="749808"/>
          </a:xfrm>
          <a:prstGeom prst="roundRect">
            <a:avLst>
              <a:gd name="adj" fmla="val 10976"/>
            </a:avLst>
          </a:prstGeom>
          <a:solidFill>
            <a:schemeClr val="accent1"/>
          </a:solidFill>
          <a:ln w="12700">
            <a:solidFill>
              <a:schemeClr val="accent1"/>
            </a:solidFill>
            <a:prstDash val="solid"/>
          </a:ln>
          <a:effectLst>
            <a:outerShdw sx="100000" sy="100000" kx="0" ky="0" algn="bl" rotWithShape="0" blurRad="127000" dist="25400" dir="5400000">
              <a:srgbClr val="0E1620">
                <a:alpha val="10000"/>
              </a:srgbClr>
            </a:outerShdw>
          </a:effectLst>
        </p:spPr>
      </p:sp>
      <p:sp>
        <p:nvSpPr>
          <p:cNvPr id="29" name="Text 27"/>
          <p:cNvSpPr txBox="1"/>
          <p:nvPr/>
        </p:nvSpPr>
        <p:spPr>
          <a:xfrm>
            <a:off x="5568696" y="3310128"/>
            <a:ext cx="1481328" cy="274320"/>
          </a:xfrm>
          <a:prstGeom prst="rect">
            <a:avLst/>
          </a:prstGeom>
          <a:noFill/>
          <a:ln/>
        </p:spPr>
        <p:txBody>
          <a:bodyPr wrap="square" lIns="0" tIns="0" rIns="0" bIns="0" rtlCol="0" anchor="ctr"/>
          <a:lstStyle/>
          <a:p>
            <a:pPr algn="ctr" indent="0" marL="0">
              <a:buNone/>
            </a:pPr>
            <a:r>
              <a:rPr lang="en-US" sz="1250" b="1" dirty="0">
                <a:solidFill>
                  <a:srgbClr val="0E1620"/>
                </a:solidFill>
              </a:rPr>
              <a:t>backend</a:t>
            </a:r>
            <a:endParaRPr lang="en-US" sz="1250" dirty="0"/>
          </a:p>
        </p:txBody>
      </p:sp>
      <p:sp>
        <p:nvSpPr>
          <p:cNvPr id="30" name="Text 28"/>
          <p:cNvSpPr txBox="1"/>
          <p:nvPr/>
        </p:nvSpPr>
        <p:spPr>
          <a:xfrm>
            <a:off x="5568696" y="3584448"/>
            <a:ext cx="1481328" cy="310896"/>
          </a:xfrm>
          <a:prstGeom prst="rect">
            <a:avLst/>
          </a:prstGeom>
          <a:noFill/>
          <a:ln/>
        </p:spPr>
        <p:txBody>
          <a:bodyPr wrap="square" lIns="0" tIns="0" rIns="0" bIns="0" rtlCol="0" anchor="t"/>
          <a:lstStyle/>
          <a:p>
            <a:pPr algn="ctr" indent="0" marL="0">
              <a:buNone/>
            </a:pPr>
            <a:r>
              <a:rPr lang="en-US" sz="1000" dirty="0">
                <a:solidFill>
                  <a:srgbClr val="0E1620"/>
                </a:solidFill>
              </a:rPr>
              <a:t>FastAPI, HPA 2-5</a:t>
            </a:r>
            <a:endParaRPr lang="en-US" sz="1000" dirty="0"/>
          </a:p>
        </p:txBody>
      </p:sp>
      <p:sp>
        <p:nvSpPr>
          <p:cNvPr id="31" name="a-7.95-3.82"/>
          <p:cNvSpPr/>
          <p:nvPr/>
        </p:nvSpPr>
        <p:spPr>
          <a:xfrm>
            <a:off x="7269480" y="3493008"/>
            <a:ext cx="457200" cy="201168"/>
          </a:xfrm>
          <a:prstGeom prst="rightArrow">
            <a:avLst/>
          </a:prstGeom>
          <a:solidFill>
            <a:srgbClr val="B9C7CE"/>
          </a:solidFill>
          <a:ln w="12700">
            <a:solidFill>
              <a:srgbClr val="B9C7CE"/>
            </a:solidFill>
            <a:prstDash val="solid"/>
          </a:ln>
        </p:spPr>
      </p:sp>
      <p:sp>
        <p:nvSpPr>
          <p:cNvPr id="32" name="b-postgres"/>
          <p:cNvSpPr/>
          <p:nvPr/>
        </p:nvSpPr>
        <p:spPr>
          <a:xfrm>
            <a:off x="7818120" y="3218688"/>
            <a:ext cx="1828800" cy="749808"/>
          </a:xfrm>
          <a:prstGeom prst="roundRect">
            <a:avLst>
              <a:gd name="adj" fmla="val 10976"/>
            </a:avLst>
          </a:prstGeom>
          <a:solidFill>
            <a:schemeClr val="accent5"/>
          </a:solidFill>
          <a:ln w="12700">
            <a:solidFill>
              <a:schemeClr val="accent5"/>
            </a:solidFill>
            <a:prstDash val="solid"/>
          </a:ln>
          <a:effectLst>
            <a:outerShdw sx="100000" sy="100000" kx="0" ky="0" algn="bl" rotWithShape="0" blurRad="127000" dist="25400" dir="5400000">
              <a:srgbClr val="0E1620">
                <a:alpha val="10000"/>
              </a:srgbClr>
            </a:outerShdw>
          </a:effectLst>
        </p:spPr>
      </p:sp>
      <p:sp>
        <p:nvSpPr>
          <p:cNvPr id="33" name="Text 31"/>
          <p:cNvSpPr txBox="1"/>
          <p:nvPr/>
        </p:nvSpPr>
        <p:spPr>
          <a:xfrm>
            <a:off x="7946136" y="3310128"/>
            <a:ext cx="1572768" cy="274320"/>
          </a:xfrm>
          <a:prstGeom prst="rect">
            <a:avLst/>
          </a:prstGeom>
          <a:noFill/>
          <a:ln/>
        </p:spPr>
        <p:txBody>
          <a:bodyPr wrap="square" lIns="0" tIns="0" rIns="0" bIns="0" rtlCol="0" anchor="ctr"/>
          <a:lstStyle/>
          <a:p>
            <a:pPr algn="ctr" indent="0" marL="0">
              <a:buNone/>
            </a:pPr>
            <a:r>
              <a:rPr lang="en-US" sz="1250" b="1" dirty="0">
                <a:solidFill>
                  <a:srgbClr val="FFFFFF"/>
                </a:solidFill>
              </a:rPr>
              <a:t>postgres</a:t>
            </a:r>
            <a:endParaRPr lang="en-US" sz="1250" dirty="0"/>
          </a:p>
        </p:txBody>
      </p:sp>
      <p:sp>
        <p:nvSpPr>
          <p:cNvPr id="34" name="Text 32"/>
          <p:cNvSpPr txBox="1"/>
          <p:nvPr/>
        </p:nvSpPr>
        <p:spPr>
          <a:xfrm>
            <a:off x="7946136" y="3584448"/>
            <a:ext cx="1572768" cy="310896"/>
          </a:xfrm>
          <a:prstGeom prst="rect">
            <a:avLst/>
          </a:prstGeom>
          <a:noFill/>
          <a:ln/>
        </p:spPr>
        <p:txBody>
          <a:bodyPr wrap="square" lIns="0" tIns="0" rIns="0" bIns="0" rtlCol="0" anchor="t"/>
          <a:lstStyle/>
          <a:p>
            <a:pPr algn="ctr" indent="0" marL="0">
              <a:buNone/>
            </a:pPr>
            <a:r>
              <a:rPr lang="en-US" sz="1000" dirty="0">
                <a:solidFill>
                  <a:srgbClr val="FFFFFF"/>
                </a:solidFill>
              </a:rPr>
              <a:t>StatefulSet + PVC</a:t>
            </a:r>
            <a:endParaRPr lang="en-US" sz="1000" dirty="0"/>
          </a:p>
        </p:txBody>
      </p:sp>
      <p:sp>
        <p:nvSpPr>
          <p:cNvPr id="35" name="card-0.7-4.72"/>
          <p:cNvSpPr/>
          <p:nvPr/>
        </p:nvSpPr>
        <p:spPr>
          <a:xfrm>
            <a:off x="640080" y="4315968"/>
            <a:ext cx="10881360" cy="1051560"/>
          </a:xfrm>
          <a:prstGeom prst="roundRect">
            <a:avLst>
              <a:gd name="adj" fmla="val 8696"/>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36" name="Text 34"/>
          <p:cNvSpPr txBox="1"/>
          <p:nvPr/>
        </p:nvSpPr>
        <p:spPr>
          <a:xfrm>
            <a:off x="868680" y="4480560"/>
            <a:ext cx="10424160" cy="77724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Prometheus discovers backend Pods by annotation, so every replica the autoscaler adds is scraped without configuration. Grafana reads Prometheus. The Ingress is the only way in: postgres has no Service exposed outside the namespace.</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Tech stack</a:t>
            </a:r>
            <a:endParaRPr lang="en-US" sz="3200" dirty="0"/>
          </a:p>
        </p:txBody>
      </p:sp>
      <p:sp>
        <p:nvSpPr>
          <p:cNvPr id="3" name="card-0.7-1.45"/>
          <p:cNvSpPr/>
          <p:nvPr/>
        </p:nvSpPr>
        <p:spPr>
          <a:xfrm>
            <a:off x="640080" y="1325880"/>
            <a:ext cx="108813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4" name="dot-1"/>
          <p:cNvSpPr/>
          <p:nvPr/>
        </p:nvSpPr>
        <p:spPr>
          <a:xfrm>
            <a:off x="914400" y="152704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914400" y="1527048"/>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4"/>
          <p:cNvSpPr txBox="1"/>
          <p:nvPr/>
        </p:nvSpPr>
        <p:spPr>
          <a:xfrm>
            <a:off x="1508760" y="145389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Application</a:t>
            </a:r>
            <a:endParaRPr lang="en-US" sz="1500" dirty="0"/>
          </a:p>
        </p:txBody>
      </p:sp>
      <p:sp>
        <p:nvSpPr>
          <p:cNvPr id="7" name="Text 5"/>
          <p:cNvSpPr txBox="1"/>
          <p:nvPr/>
        </p:nvSpPr>
        <p:spPr>
          <a:xfrm>
            <a:off x="3657600" y="1481328"/>
            <a:ext cx="7498080" cy="5029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React 18 with Vite, FastAPI, SQLAlchemy 2, Alembic migrations, PostgreSQL 16</a:t>
            </a:r>
            <a:endParaRPr lang="en-US" sz="1250" dirty="0"/>
          </a:p>
        </p:txBody>
      </p:sp>
      <p:sp>
        <p:nvSpPr>
          <p:cNvPr id="8" name="card-0.7-2.45"/>
          <p:cNvSpPr/>
          <p:nvPr/>
        </p:nvSpPr>
        <p:spPr>
          <a:xfrm>
            <a:off x="640080" y="2240280"/>
            <a:ext cx="108813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9" name="dot-2"/>
          <p:cNvSpPr/>
          <p:nvPr/>
        </p:nvSpPr>
        <p:spPr>
          <a:xfrm>
            <a:off x="914400" y="244144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914400" y="2441448"/>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9"/>
          <p:cNvSpPr txBox="1"/>
          <p:nvPr/>
        </p:nvSpPr>
        <p:spPr>
          <a:xfrm>
            <a:off x="1508760" y="236829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Containers</a:t>
            </a:r>
            <a:endParaRPr lang="en-US" sz="1500" dirty="0"/>
          </a:p>
        </p:txBody>
      </p:sp>
      <p:sp>
        <p:nvSpPr>
          <p:cNvPr id="12" name="Text 10"/>
          <p:cNvSpPr txBox="1"/>
          <p:nvPr/>
        </p:nvSpPr>
        <p:spPr>
          <a:xfrm>
            <a:off x="3657600" y="2395728"/>
            <a:ext cx="7498080" cy="5029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Multi-stage Dockerfiles, non-root users, nginx-unprivileged, Docker Compose</a:t>
            </a:r>
            <a:endParaRPr lang="en-US" sz="1250" dirty="0"/>
          </a:p>
        </p:txBody>
      </p:sp>
      <p:sp>
        <p:nvSpPr>
          <p:cNvPr id="13" name="card-0.7-3.45"/>
          <p:cNvSpPr/>
          <p:nvPr/>
        </p:nvSpPr>
        <p:spPr>
          <a:xfrm>
            <a:off x="640080" y="3154680"/>
            <a:ext cx="108813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dot-3"/>
          <p:cNvSpPr/>
          <p:nvPr/>
        </p:nvSpPr>
        <p:spPr>
          <a:xfrm>
            <a:off x="914400" y="335584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914400" y="3355848"/>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6" name="Text 14"/>
          <p:cNvSpPr txBox="1"/>
          <p:nvPr/>
        </p:nvSpPr>
        <p:spPr>
          <a:xfrm>
            <a:off x="1508760" y="328269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Pipeline</a:t>
            </a:r>
            <a:endParaRPr lang="en-US" sz="1500" dirty="0"/>
          </a:p>
        </p:txBody>
      </p:sp>
      <p:sp>
        <p:nvSpPr>
          <p:cNvPr id="17" name="Text 15"/>
          <p:cNvSpPr txBox="1"/>
          <p:nvPr/>
        </p:nvSpPr>
        <p:spPr>
          <a:xfrm>
            <a:off x="3657600" y="3310128"/>
            <a:ext cx="7498080" cy="5029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GitHub Actions, GHCR, Trivy, Helm, kind in the runner</a:t>
            </a:r>
            <a:endParaRPr lang="en-US" sz="1250" dirty="0"/>
          </a:p>
        </p:txBody>
      </p:sp>
      <p:sp>
        <p:nvSpPr>
          <p:cNvPr id="18" name="card-0.7-4.45"/>
          <p:cNvSpPr/>
          <p:nvPr/>
        </p:nvSpPr>
        <p:spPr>
          <a:xfrm>
            <a:off x="640080" y="4069080"/>
            <a:ext cx="108813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9" name="dot-4"/>
          <p:cNvSpPr/>
          <p:nvPr/>
        </p:nvSpPr>
        <p:spPr>
          <a:xfrm>
            <a:off x="914400" y="4270248"/>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914400" y="4270248"/>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21" name="Text 19"/>
          <p:cNvSpPr txBox="1"/>
          <p:nvPr/>
        </p:nvSpPr>
        <p:spPr>
          <a:xfrm>
            <a:off x="1508760" y="419709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Kubernetes</a:t>
            </a:r>
            <a:endParaRPr lang="en-US" sz="1500" dirty="0"/>
          </a:p>
        </p:txBody>
      </p:sp>
      <p:sp>
        <p:nvSpPr>
          <p:cNvPr id="22" name="Text 20"/>
          <p:cNvSpPr txBox="1"/>
          <p:nvPr/>
        </p:nvSpPr>
        <p:spPr>
          <a:xfrm>
            <a:off x="3657600" y="4224528"/>
            <a:ext cx="7498080" cy="5029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Minikube, ingress-nginx, metrics-server, Helm chart with dev and prod values</a:t>
            </a:r>
            <a:endParaRPr lang="en-US" sz="1250" dirty="0"/>
          </a:p>
        </p:txBody>
      </p:sp>
      <p:sp>
        <p:nvSpPr>
          <p:cNvPr id="23" name="card-0.7-5.45"/>
          <p:cNvSpPr/>
          <p:nvPr/>
        </p:nvSpPr>
        <p:spPr>
          <a:xfrm>
            <a:off x="640080" y="4983480"/>
            <a:ext cx="108813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24" name="dot-5"/>
          <p:cNvSpPr/>
          <p:nvPr/>
        </p:nvSpPr>
        <p:spPr>
          <a:xfrm>
            <a:off x="914400" y="5184648"/>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914400" y="5184648"/>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26" name="Text 24"/>
          <p:cNvSpPr txBox="1"/>
          <p:nvPr/>
        </p:nvSpPr>
        <p:spPr>
          <a:xfrm>
            <a:off x="1508760" y="511149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Operations</a:t>
            </a:r>
            <a:endParaRPr lang="en-US" sz="1500" dirty="0"/>
          </a:p>
        </p:txBody>
      </p:sp>
      <p:sp>
        <p:nvSpPr>
          <p:cNvPr id="27" name="Text 25"/>
          <p:cNvSpPr txBox="1"/>
          <p:nvPr/>
        </p:nvSpPr>
        <p:spPr>
          <a:xfrm>
            <a:off x="3657600" y="5138928"/>
            <a:ext cx="7498080" cy="5029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Prometheus with alert rules, Grafana dashboard, Argo CD, Terraform for the network</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The application and its API</a:t>
            </a:r>
            <a:endParaRPr lang="en-US" sz="3200" dirty="0"/>
          </a:p>
        </p:txBody>
      </p:sp>
      <p:sp>
        <p:nvSpPr>
          <p:cNvPr id="3" name="Text 1"/>
          <p:cNvSpPr txBox="1"/>
          <p:nvPr/>
        </p:nvSpPr>
        <p:spPr>
          <a:xfrm>
            <a:off x="640080" y="1325880"/>
            <a:ext cx="5120640" cy="292608"/>
          </a:xfrm>
          <a:prstGeom prst="rect">
            <a:avLst/>
          </a:prstGeom>
          <a:noFill/>
          <a:ln/>
        </p:spPr>
        <p:txBody>
          <a:bodyPr wrap="square" lIns="0" tIns="0" rIns="0" bIns="0" rtlCol="0" anchor="ctr"/>
          <a:lstStyle/>
          <a:p>
            <a:pPr indent="0" marL="0">
              <a:buNone/>
            </a:pPr>
            <a:r>
              <a:rPr lang="en-US" sz="1500" b="1" dirty="0">
                <a:solidFill>
                  <a:schemeClr val="tx1"/>
                </a:solidFill>
              </a:rPr>
              <a:t>Nine endpoints, three of them operational</a:t>
            </a:r>
            <a:endParaRPr lang="en-US" sz="1500" dirty="0"/>
          </a:p>
        </p:txBody>
      </p:sp>
      <p:sp>
        <p:nvSpPr>
          <p:cNvPr id="4" name="mono-1.85"/>
          <p:cNvSpPr/>
          <p:nvPr/>
        </p:nvSpPr>
        <p:spPr>
          <a:xfrm>
            <a:off x="640080" y="1691640"/>
            <a:ext cx="5577840" cy="1874520"/>
          </a:xfrm>
          <a:prstGeom prst="roundRect">
            <a:avLst>
              <a:gd name="adj" fmla="val 3902"/>
            </a:avLst>
          </a:prstGeom>
          <a:solidFill>
            <a:srgbClr val="0E1620"/>
          </a:solidFill>
          <a:ln w="12700">
            <a:solidFill>
              <a:srgbClr val="0E1620"/>
            </a:solidFill>
            <a:prstDash val="solid"/>
          </a:ln>
        </p:spPr>
      </p:sp>
      <p:sp>
        <p:nvSpPr>
          <p:cNvPr id="5" name="Text 3"/>
          <p:cNvSpPr txBox="1"/>
          <p:nvPr/>
        </p:nvSpPr>
        <p:spPr>
          <a:xfrm>
            <a:off x="804672" y="1801368"/>
            <a:ext cx="5248656" cy="165506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GET    /health            liveness, no dependencies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GET    /ready             readiness, checks the database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GET    /metrics           Prometheus exposition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GET    /api/issues        list, filterable by status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GET    /api/issues/stats  counts by status and priority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POST   /api/issues        create, validates priority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PUT    /api/issues/{id}   update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DELETE /api/issues/{id}   delete
</a:t>
            </a:r>
            <a:endParaRPr lang="en-US" sz="1100" dirty="0"/>
          </a:p>
        </p:txBody>
      </p:sp>
      <p:sp>
        <p:nvSpPr>
          <p:cNvPr id="6" name="Text 4"/>
          <p:cNvSpPr txBox="1"/>
          <p:nvPr/>
        </p:nvSpPr>
        <p:spPr>
          <a:xfrm>
            <a:off x="6675120" y="1325880"/>
            <a:ext cx="4846320" cy="292608"/>
          </a:xfrm>
          <a:prstGeom prst="rect">
            <a:avLst/>
          </a:prstGeom>
          <a:noFill/>
          <a:ln/>
        </p:spPr>
        <p:txBody>
          <a:bodyPr wrap="square" lIns="0" tIns="0" rIns="0" bIns="0" rtlCol="0" anchor="ctr"/>
          <a:lstStyle/>
          <a:p>
            <a:pPr indent="0" marL="0">
              <a:buNone/>
            </a:pPr>
            <a:r>
              <a:rPr lang="en-US" sz="1500" b="1" dirty="0">
                <a:solidFill>
                  <a:schemeClr val="tx1"/>
                </a:solidFill>
              </a:rPr>
              <a:t>Why the split matters</a:t>
            </a:r>
            <a:endParaRPr lang="en-US" sz="1500" dirty="0"/>
          </a:p>
        </p:txBody>
      </p:sp>
      <p:sp>
        <p:nvSpPr>
          <p:cNvPr id="7" name="card-7.3-1.85"/>
          <p:cNvSpPr/>
          <p:nvPr/>
        </p:nvSpPr>
        <p:spPr>
          <a:xfrm>
            <a:off x="6675120" y="1691640"/>
            <a:ext cx="4846320" cy="1417320"/>
          </a:xfrm>
          <a:prstGeom prst="roundRect">
            <a:avLst>
              <a:gd name="adj" fmla="val 645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8" name="Text 6"/>
          <p:cNvSpPr txBox="1"/>
          <p:nvPr/>
        </p:nvSpPr>
        <p:spPr>
          <a:xfrm>
            <a:off x="6903720" y="1874520"/>
            <a:ext cx="4389120" cy="9601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A liveness probe that touched the database would restart a healthy Pod whenever the database blinked. /health answers from the process alone; /ready is the one that checks the database, so a Pod is pulled out of the Service instead of killed.</a:t>
            </a:r>
            <a:endParaRPr lang="en-US" sz="1250" dirty="0"/>
          </a:p>
        </p:txBody>
      </p:sp>
      <p:sp>
        <p:nvSpPr>
          <p:cNvPr id="9" name="Text 7"/>
          <p:cNvSpPr txBox="1"/>
          <p:nvPr/>
        </p:nvSpPr>
        <p:spPr>
          <a:xfrm>
            <a:off x="6675120" y="3291840"/>
            <a:ext cx="4846320" cy="292608"/>
          </a:xfrm>
          <a:prstGeom prst="rect">
            <a:avLst/>
          </a:prstGeom>
          <a:noFill/>
          <a:ln/>
        </p:spPr>
        <p:txBody>
          <a:bodyPr wrap="square" lIns="0" tIns="0" rIns="0" bIns="0" rtlCol="0" anchor="ctr"/>
          <a:lstStyle/>
          <a:p>
            <a:pPr indent="0" marL="0">
              <a:buNone/>
            </a:pPr>
            <a:r>
              <a:rPr lang="en-US" sz="1500" b="1" dirty="0">
                <a:solidFill>
                  <a:schemeClr val="tx1"/>
                </a:solidFill>
              </a:rPr>
              <a:t>Tested, not asserted</a:t>
            </a:r>
            <a:endParaRPr lang="en-US" sz="1500" dirty="0"/>
          </a:p>
        </p:txBody>
      </p:sp>
      <p:sp>
        <p:nvSpPr>
          <p:cNvPr id="10" name="card-7.3-4"/>
          <p:cNvSpPr/>
          <p:nvPr/>
        </p:nvSpPr>
        <p:spPr>
          <a:xfrm>
            <a:off x="6675120" y="3657600"/>
            <a:ext cx="4846320" cy="868680"/>
          </a:xfrm>
          <a:prstGeom prst="roundRect">
            <a:avLst>
              <a:gd name="adj" fmla="val 10526"/>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1" name="Text 9"/>
          <p:cNvSpPr txBox="1"/>
          <p:nvPr/>
        </p:nvSpPr>
        <p:spPr>
          <a:xfrm>
            <a:off x="6903720" y="3840480"/>
            <a:ext cx="4389120" cy="59436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Eight pytest cases cover the create/read/update/delete cycle, validation rejection, stats, readiness and the metrics counter.</a:t>
            </a:r>
            <a:endParaRPr lang="en-US" sz="1250" dirty="0"/>
          </a:p>
        </p:txBody>
      </p:sp>
      <p:sp>
        <p:nvSpPr>
          <p:cNvPr id="12" name="mono-4.15"/>
          <p:cNvSpPr/>
          <p:nvPr/>
        </p:nvSpPr>
        <p:spPr>
          <a:xfrm>
            <a:off x="640080" y="3794760"/>
            <a:ext cx="5577840" cy="731520"/>
          </a:xfrm>
          <a:prstGeom prst="roundRect">
            <a:avLst>
              <a:gd name="adj" fmla="val 10000"/>
            </a:avLst>
          </a:prstGeom>
          <a:solidFill>
            <a:srgbClr val="0E1620"/>
          </a:solidFill>
          <a:ln w="12700">
            <a:solidFill>
              <a:srgbClr val="0E1620"/>
            </a:solidFill>
            <a:prstDash val="solid"/>
          </a:ln>
        </p:spPr>
      </p:sp>
      <p:sp>
        <p:nvSpPr>
          <p:cNvPr id="13" name="Text 11"/>
          <p:cNvSpPr txBox="1"/>
          <p:nvPr/>
        </p:nvSpPr>
        <p:spPr>
          <a:xfrm>
            <a:off x="804672" y="3904488"/>
            <a:ext cx="5248656" cy="51206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collected 8 items</a:t>
            </a:r>
            <a:endParaRPr lang="en-US" sz="1100" dirty="0"/>
          </a:p>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8 passed, 1 warning in 0.11s</a:t>
            </a:r>
            <a:endParaRPr lang="en-US" sz="1100" dirty="0"/>
          </a:p>
        </p:txBody>
      </p:sp>
      <p:sp>
        <p:nvSpPr>
          <p:cNvPr id="14" name="card-0.7-5.25"/>
          <p:cNvSpPr/>
          <p:nvPr/>
        </p:nvSpPr>
        <p:spPr>
          <a:xfrm>
            <a:off x="640080" y="4800600"/>
            <a:ext cx="10881360" cy="1005840"/>
          </a:xfrm>
          <a:prstGeom prst="roundRect">
            <a:avLst>
              <a:gd name="adj" fmla="val 9091"/>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5" name="Text 13"/>
          <p:cNvSpPr txBox="1"/>
          <p:nvPr/>
        </p:nvSpPr>
        <p:spPr>
          <a:xfrm>
            <a:off x="868680" y="4983480"/>
            <a:ext cx="10424160" cy="713232"/>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The API is small on purpose. What matters is that every endpoint the cluster depends on, including the two probes and the metrics route, is covered by a test that runs before any image is built.</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Containers and Compose</a:t>
            </a:r>
            <a:endParaRPr lang="en-US" sz="3200" dirty="0"/>
          </a:p>
        </p:txBody>
      </p:sp>
      <p:sp>
        <p:nvSpPr>
          <p:cNvPr id="3" name="card-0.7-1.5"/>
          <p:cNvSpPr/>
          <p:nvPr/>
        </p:nvSpPr>
        <p:spPr>
          <a:xfrm>
            <a:off x="640080" y="1371600"/>
            <a:ext cx="5303520" cy="1325880"/>
          </a:xfrm>
          <a:prstGeom prst="roundRect">
            <a:avLst>
              <a:gd name="adj" fmla="val 6897"/>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4" name="dot-1"/>
          <p:cNvSpPr/>
          <p:nvPr/>
        </p:nvSpPr>
        <p:spPr>
          <a:xfrm>
            <a:off x="914400" y="1627632"/>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914400" y="162763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4"/>
          <p:cNvSpPr txBox="1"/>
          <p:nvPr/>
        </p:nvSpPr>
        <p:spPr>
          <a:xfrm>
            <a:off x="1508760" y="1609344"/>
            <a:ext cx="4114800" cy="292608"/>
          </a:xfrm>
          <a:prstGeom prst="rect">
            <a:avLst/>
          </a:prstGeom>
          <a:noFill/>
          <a:ln/>
        </p:spPr>
        <p:txBody>
          <a:bodyPr wrap="square" lIns="0" tIns="0" rIns="0" bIns="0" rtlCol="0" anchor="ctr"/>
          <a:lstStyle/>
          <a:p>
            <a:pPr indent="0" marL="0">
              <a:buNone/>
            </a:pPr>
            <a:r>
              <a:rPr lang="en-US" sz="1500" b="1" dirty="0">
                <a:solidFill>
                  <a:schemeClr val="tx1"/>
                </a:solidFill>
              </a:rPr>
              <a:t>Multi-stage</a:t>
            </a:r>
            <a:endParaRPr lang="en-US" sz="1500" dirty="0"/>
          </a:p>
        </p:txBody>
      </p:sp>
      <p:sp>
        <p:nvSpPr>
          <p:cNvPr id="7" name="Text 5"/>
          <p:cNvSpPr txBox="1"/>
          <p:nvPr/>
        </p:nvSpPr>
        <p:spPr>
          <a:xfrm>
            <a:off x="1508760" y="1956816"/>
            <a:ext cx="4206240" cy="64008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The frontend is built with Node and shipped on nginx; the toolchain never reaches the runtime image.</a:t>
            </a:r>
            <a:endParaRPr lang="en-US" sz="1200" dirty="0"/>
          </a:p>
        </p:txBody>
      </p:sp>
      <p:sp>
        <p:nvSpPr>
          <p:cNvPr id="8" name="card-6.8500000000000005-1.5"/>
          <p:cNvSpPr/>
          <p:nvPr/>
        </p:nvSpPr>
        <p:spPr>
          <a:xfrm>
            <a:off x="6263640" y="1371600"/>
            <a:ext cx="5303520" cy="1325880"/>
          </a:xfrm>
          <a:prstGeom prst="roundRect">
            <a:avLst>
              <a:gd name="adj" fmla="val 6897"/>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9" name="dot-2"/>
          <p:cNvSpPr/>
          <p:nvPr/>
        </p:nvSpPr>
        <p:spPr>
          <a:xfrm>
            <a:off x="6537960" y="1627632"/>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537960" y="162763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9"/>
          <p:cNvSpPr txBox="1"/>
          <p:nvPr/>
        </p:nvSpPr>
        <p:spPr>
          <a:xfrm>
            <a:off x="7132320" y="1609344"/>
            <a:ext cx="4114800" cy="292608"/>
          </a:xfrm>
          <a:prstGeom prst="rect">
            <a:avLst/>
          </a:prstGeom>
          <a:noFill/>
          <a:ln/>
        </p:spPr>
        <p:txBody>
          <a:bodyPr wrap="square" lIns="0" tIns="0" rIns="0" bIns="0" rtlCol="0" anchor="ctr"/>
          <a:lstStyle/>
          <a:p>
            <a:pPr indent="0" marL="0">
              <a:buNone/>
            </a:pPr>
            <a:r>
              <a:rPr lang="en-US" sz="1500" b="1" dirty="0">
                <a:solidFill>
                  <a:schemeClr val="tx1"/>
                </a:solidFill>
              </a:rPr>
              <a:t>Non-root</a:t>
            </a:r>
            <a:endParaRPr lang="en-US" sz="1500" dirty="0"/>
          </a:p>
        </p:txBody>
      </p:sp>
      <p:sp>
        <p:nvSpPr>
          <p:cNvPr id="12" name="Text 10"/>
          <p:cNvSpPr txBox="1"/>
          <p:nvPr/>
        </p:nvSpPr>
        <p:spPr>
          <a:xfrm>
            <a:off x="7132320" y="1956816"/>
            <a:ext cx="4206240" cy="64008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Both images run as a fixed non-root UID, with capabilities dropped in the Kubernetes manifests.</a:t>
            </a:r>
            <a:endParaRPr lang="en-US" sz="1200" dirty="0"/>
          </a:p>
        </p:txBody>
      </p:sp>
      <p:sp>
        <p:nvSpPr>
          <p:cNvPr id="13" name="card-0.7-3.15"/>
          <p:cNvSpPr/>
          <p:nvPr/>
        </p:nvSpPr>
        <p:spPr>
          <a:xfrm>
            <a:off x="640080" y="2880360"/>
            <a:ext cx="5303520" cy="1325880"/>
          </a:xfrm>
          <a:prstGeom prst="roundRect">
            <a:avLst>
              <a:gd name="adj" fmla="val 6897"/>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dot-3"/>
          <p:cNvSpPr/>
          <p:nvPr/>
        </p:nvSpPr>
        <p:spPr>
          <a:xfrm>
            <a:off x="914400" y="3136392"/>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914400" y="313639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6" name="Text 14"/>
          <p:cNvSpPr txBox="1"/>
          <p:nvPr/>
        </p:nvSpPr>
        <p:spPr>
          <a:xfrm>
            <a:off x="1508760" y="3118104"/>
            <a:ext cx="4114800" cy="292608"/>
          </a:xfrm>
          <a:prstGeom prst="rect">
            <a:avLst/>
          </a:prstGeom>
          <a:noFill/>
          <a:ln/>
        </p:spPr>
        <p:txBody>
          <a:bodyPr wrap="square" lIns="0" tIns="0" rIns="0" bIns="0" rtlCol="0" anchor="ctr"/>
          <a:lstStyle/>
          <a:p>
            <a:pPr indent="0" marL="0">
              <a:buNone/>
            </a:pPr>
            <a:r>
              <a:rPr lang="en-US" sz="1500" b="1" dirty="0">
                <a:solidFill>
                  <a:schemeClr val="tx1"/>
                </a:solidFill>
              </a:rPr>
              <a:t>Slim bases</a:t>
            </a:r>
            <a:endParaRPr lang="en-US" sz="1500" dirty="0"/>
          </a:p>
        </p:txBody>
      </p:sp>
      <p:sp>
        <p:nvSpPr>
          <p:cNvPr id="17" name="Text 15"/>
          <p:cNvSpPr txBox="1"/>
          <p:nvPr/>
        </p:nvSpPr>
        <p:spPr>
          <a:xfrm>
            <a:off x="1508760" y="3465576"/>
            <a:ext cx="4206240" cy="64008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Debian slim and Alpine, upgraded at build time so base-image CVEs do not ride along.</a:t>
            </a:r>
            <a:endParaRPr lang="en-US" sz="1200" dirty="0"/>
          </a:p>
        </p:txBody>
      </p:sp>
      <p:sp>
        <p:nvSpPr>
          <p:cNvPr id="18" name="card-6.8500000000000005-3.15"/>
          <p:cNvSpPr/>
          <p:nvPr/>
        </p:nvSpPr>
        <p:spPr>
          <a:xfrm>
            <a:off x="6263640" y="2880360"/>
            <a:ext cx="5303520" cy="1325880"/>
          </a:xfrm>
          <a:prstGeom prst="roundRect">
            <a:avLst>
              <a:gd name="adj" fmla="val 6897"/>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9" name="dot-4"/>
          <p:cNvSpPr/>
          <p:nvPr/>
        </p:nvSpPr>
        <p:spPr>
          <a:xfrm>
            <a:off x="6537960" y="3136392"/>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537960" y="313639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21" name="Text 19"/>
          <p:cNvSpPr txBox="1"/>
          <p:nvPr/>
        </p:nvSpPr>
        <p:spPr>
          <a:xfrm>
            <a:off x="7132320" y="3118104"/>
            <a:ext cx="4114800" cy="292608"/>
          </a:xfrm>
          <a:prstGeom prst="rect">
            <a:avLst/>
          </a:prstGeom>
          <a:noFill/>
          <a:ln/>
        </p:spPr>
        <p:txBody>
          <a:bodyPr wrap="square" lIns="0" tIns="0" rIns="0" bIns="0" rtlCol="0" anchor="ctr"/>
          <a:lstStyle/>
          <a:p>
            <a:pPr indent="0" marL="0">
              <a:buNone/>
            </a:pPr>
            <a:r>
              <a:rPr lang="en-US" sz="1500" b="1" dirty="0">
                <a:solidFill>
                  <a:schemeClr val="tx1"/>
                </a:solidFill>
              </a:rPr>
              <a:t>One command</a:t>
            </a:r>
            <a:endParaRPr lang="en-US" sz="1500" dirty="0"/>
          </a:p>
        </p:txBody>
      </p:sp>
      <p:sp>
        <p:nvSpPr>
          <p:cNvPr id="22" name="Text 20"/>
          <p:cNvSpPr txBox="1"/>
          <p:nvPr/>
        </p:nvSpPr>
        <p:spPr>
          <a:xfrm>
            <a:off x="7132320" y="3465576"/>
            <a:ext cx="4206240" cy="64008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docker compose up -d --build brings up the database, the API and the UI together.</a:t>
            </a:r>
            <a:endParaRPr lang="en-US" sz="1200" dirty="0"/>
          </a:p>
        </p:txBody>
      </p:sp>
      <p:sp>
        <p:nvSpPr>
          <p:cNvPr id="23" name="mono-4.95"/>
          <p:cNvSpPr/>
          <p:nvPr/>
        </p:nvSpPr>
        <p:spPr>
          <a:xfrm>
            <a:off x="640080" y="4526280"/>
            <a:ext cx="10881360" cy="1143000"/>
          </a:xfrm>
          <a:prstGeom prst="roundRect">
            <a:avLst>
              <a:gd name="adj" fmla="val 6400"/>
            </a:avLst>
          </a:prstGeom>
          <a:solidFill>
            <a:srgbClr val="0E1620"/>
          </a:solidFill>
          <a:ln w="12700">
            <a:solidFill>
              <a:srgbClr val="0E1620"/>
            </a:solidFill>
            <a:prstDash val="solid"/>
          </a:ln>
        </p:spPr>
      </p:sp>
      <p:sp>
        <p:nvSpPr>
          <p:cNvPr id="24" name="Text 22"/>
          <p:cNvSpPr txBox="1"/>
          <p:nvPr/>
        </p:nvSpPr>
        <p:spPr>
          <a:xfrm>
            <a:off x="804672" y="4636008"/>
            <a:ext cx="10552176" cy="92354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docker compose up -d --build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tracker-db        healthy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tracker-backend   started   (alembic upgrade head on boot)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tracker-frontend  started   (nginx proxies /api to the backend)</a:t>
            </a:r>
            <a:endParaRPr lang="en-US" sz="11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The pipeline</a:t>
            </a:r>
            <a:endParaRPr lang="en-US" sz="3200" dirty="0"/>
          </a:p>
        </p:txBody>
      </p:sp>
      <p:sp>
        <p:nvSpPr>
          <p:cNvPr id="3" name="Text 1"/>
          <p:cNvSpPr txBox="1"/>
          <p:nvPr/>
        </p:nvSpPr>
        <p:spPr>
          <a:xfrm>
            <a:off x="640080" y="1280160"/>
            <a:ext cx="10881360" cy="457200"/>
          </a:xfrm>
          <a:prstGeom prst="rect">
            <a:avLst/>
          </a:prstGeom>
          <a:noFill/>
          <a:ln/>
        </p:spPr>
        <p:txBody>
          <a:bodyPr wrap="square" lIns="0" tIns="0" rIns="0" bIns="0" rtlCol="0" anchor="t"/>
          <a:lstStyle/>
          <a:p>
            <a:pPr indent="0" marL="0">
              <a:lnSpc>
                <a:spcPct val="115000"/>
              </a:lnSpc>
              <a:buNone/>
            </a:pPr>
            <a:r>
              <a:rPr lang="en-US" sz="1350" dirty="0">
                <a:solidFill>
                  <a:srgbClr val="44525E"/>
                </a:solidFill>
              </a:rPr>
              <a:t>Three stages. Nothing reaches the registry until the tests and the scanner have both agreed.</a:t>
            </a:r>
            <a:endParaRPr lang="en-US" sz="1350" dirty="0"/>
          </a:p>
        </p:txBody>
      </p:sp>
      <p:sp>
        <p:nvSpPr>
          <p:cNvPr id="4" name="card-0.7-2"/>
          <p:cNvSpPr/>
          <p:nvPr/>
        </p:nvSpPr>
        <p:spPr>
          <a:xfrm>
            <a:off x="640080" y="1828800"/>
            <a:ext cx="2560320" cy="1463040"/>
          </a:xfrm>
          <a:prstGeom prst="roundRect">
            <a:avLst>
              <a:gd name="adj" fmla="val 6250"/>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5" name="dot-1"/>
          <p:cNvSpPr/>
          <p:nvPr/>
        </p:nvSpPr>
        <p:spPr>
          <a:xfrm>
            <a:off x="868680" y="2011680"/>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6868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7" name="Text 5"/>
          <p:cNvSpPr txBox="1"/>
          <p:nvPr/>
        </p:nvSpPr>
        <p:spPr>
          <a:xfrm>
            <a:off x="868680" y="2514600"/>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backend tests</a:t>
            </a:r>
            <a:endParaRPr lang="en-US" sz="1500" dirty="0"/>
          </a:p>
        </p:txBody>
      </p:sp>
      <p:sp>
        <p:nvSpPr>
          <p:cNvPr id="8" name="Text 6"/>
          <p:cNvSpPr txBox="1"/>
          <p:nvPr/>
        </p:nvSpPr>
        <p:spPr>
          <a:xfrm>
            <a:off x="868680" y="2834640"/>
            <a:ext cx="2148840" cy="36576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pytest, JUnit artifact</a:t>
            </a:r>
            <a:endParaRPr lang="en-US" sz="1150" dirty="0"/>
          </a:p>
        </p:txBody>
      </p:sp>
      <p:sp>
        <p:nvSpPr>
          <p:cNvPr id="9" name="card-3.75-2"/>
          <p:cNvSpPr/>
          <p:nvPr/>
        </p:nvSpPr>
        <p:spPr>
          <a:xfrm>
            <a:off x="3429000" y="1828800"/>
            <a:ext cx="2560320" cy="1463040"/>
          </a:xfrm>
          <a:prstGeom prst="roundRect">
            <a:avLst>
              <a:gd name="adj" fmla="val 6250"/>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0" name="dot-1"/>
          <p:cNvSpPr/>
          <p:nvPr/>
        </p:nvSpPr>
        <p:spPr>
          <a:xfrm>
            <a:off x="3657600" y="201168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365760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2" name="Text 10"/>
          <p:cNvSpPr txBox="1"/>
          <p:nvPr/>
        </p:nvSpPr>
        <p:spPr>
          <a:xfrm>
            <a:off x="3657600" y="2514600"/>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frontend build</a:t>
            </a:r>
            <a:endParaRPr lang="en-US" sz="1500" dirty="0"/>
          </a:p>
        </p:txBody>
      </p:sp>
      <p:sp>
        <p:nvSpPr>
          <p:cNvPr id="13" name="Text 11"/>
          <p:cNvSpPr txBox="1"/>
          <p:nvPr/>
        </p:nvSpPr>
        <p:spPr>
          <a:xfrm>
            <a:off x="3657600" y="2834640"/>
            <a:ext cx="2148840" cy="36576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Vite, dist artifact</a:t>
            </a:r>
            <a:endParaRPr lang="en-US" sz="1150" dirty="0"/>
          </a:p>
        </p:txBody>
      </p:sp>
      <p:sp>
        <p:nvSpPr>
          <p:cNvPr id="14" name="card-6.8-2"/>
          <p:cNvSpPr/>
          <p:nvPr/>
        </p:nvSpPr>
        <p:spPr>
          <a:xfrm>
            <a:off x="6217920" y="1828800"/>
            <a:ext cx="2560320" cy="1463040"/>
          </a:xfrm>
          <a:prstGeom prst="roundRect">
            <a:avLst>
              <a:gd name="adj" fmla="val 6250"/>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5" name="dot-2"/>
          <p:cNvSpPr/>
          <p:nvPr/>
        </p:nvSpPr>
        <p:spPr>
          <a:xfrm>
            <a:off x="6446520" y="201168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644652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7" name="Text 15"/>
          <p:cNvSpPr txBox="1"/>
          <p:nvPr/>
        </p:nvSpPr>
        <p:spPr>
          <a:xfrm>
            <a:off x="6446520" y="2514600"/>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build, scan, push</a:t>
            </a:r>
            <a:endParaRPr lang="en-US" sz="1500" dirty="0"/>
          </a:p>
        </p:txBody>
      </p:sp>
      <p:sp>
        <p:nvSpPr>
          <p:cNvPr id="18" name="Text 16"/>
          <p:cNvSpPr txBox="1"/>
          <p:nvPr/>
        </p:nvSpPr>
        <p:spPr>
          <a:xfrm>
            <a:off x="6446520" y="2834640"/>
            <a:ext cx="2148840" cy="36576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buildx, Trivy, GHCR</a:t>
            </a:r>
            <a:endParaRPr lang="en-US" sz="1150" dirty="0"/>
          </a:p>
        </p:txBody>
      </p:sp>
      <p:sp>
        <p:nvSpPr>
          <p:cNvPr id="19" name="card-9.849999999999998-2"/>
          <p:cNvSpPr/>
          <p:nvPr/>
        </p:nvSpPr>
        <p:spPr>
          <a:xfrm>
            <a:off x="9006840" y="1828800"/>
            <a:ext cx="2560320" cy="1463040"/>
          </a:xfrm>
          <a:prstGeom prst="roundRect">
            <a:avLst>
              <a:gd name="adj" fmla="val 6250"/>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20" name="dot-3"/>
          <p:cNvSpPr/>
          <p:nvPr/>
        </p:nvSpPr>
        <p:spPr>
          <a:xfrm>
            <a:off x="9235440" y="201168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923544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2" name="Text 20"/>
          <p:cNvSpPr txBox="1"/>
          <p:nvPr/>
        </p:nvSpPr>
        <p:spPr>
          <a:xfrm>
            <a:off x="9235440" y="2514600"/>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deploy to kind</a:t>
            </a:r>
            <a:endParaRPr lang="en-US" sz="1500" dirty="0"/>
          </a:p>
        </p:txBody>
      </p:sp>
      <p:sp>
        <p:nvSpPr>
          <p:cNvPr id="23" name="Text 21"/>
          <p:cNvSpPr txBox="1"/>
          <p:nvPr/>
        </p:nvSpPr>
        <p:spPr>
          <a:xfrm>
            <a:off x="9235440" y="2834640"/>
            <a:ext cx="2148840" cy="36576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helm upgrade, smoke test</a:t>
            </a:r>
            <a:endParaRPr lang="en-US" sz="1150" dirty="0"/>
          </a:p>
        </p:txBody>
      </p:sp>
      <p:sp>
        <p:nvSpPr>
          <p:cNvPr id="24" name="Text 22"/>
          <p:cNvSpPr txBox="1"/>
          <p:nvPr/>
        </p:nvSpPr>
        <p:spPr>
          <a:xfrm>
            <a:off x="640080" y="3520440"/>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What the smoke test actually proves</a:t>
            </a:r>
            <a:endParaRPr lang="en-US" sz="1500" dirty="0"/>
          </a:p>
        </p:txBody>
      </p:sp>
      <p:sp>
        <p:nvSpPr>
          <p:cNvPr id="25" name="mono-4.25"/>
          <p:cNvSpPr/>
          <p:nvPr/>
        </p:nvSpPr>
        <p:spPr>
          <a:xfrm>
            <a:off x="640080" y="3886200"/>
            <a:ext cx="10881360" cy="1600200"/>
          </a:xfrm>
          <a:prstGeom prst="roundRect">
            <a:avLst>
              <a:gd name="adj" fmla="val 4571"/>
            </a:avLst>
          </a:prstGeom>
          <a:solidFill>
            <a:srgbClr val="0E1620"/>
          </a:solidFill>
          <a:ln w="12700">
            <a:solidFill>
              <a:srgbClr val="0E1620"/>
            </a:solidFill>
            <a:prstDash val="solid"/>
          </a:ln>
        </p:spPr>
      </p:sp>
      <p:sp>
        <p:nvSpPr>
          <p:cNvPr id="26" name="Text 24"/>
          <p:cNvSpPr txBox="1"/>
          <p:nvPr/>
        </p:nvSpPr>
        <p:spPr>
          <a:xfrm>
            <a:off x="804672" y="3995928"/>
            <a:ext cx="10552176" cy="138074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NAME: tracker          STATUS: deployed        REVISION: 1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{"status":"ready"}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{"title":"created by CI","status":"open","priority":"high","id":1}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{"total":1,"by_status":{"open":1,"in_progress":0,"done":0}}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tracker_issues_created_total 0.0</a:t>
            </a:r>
            <a:endParaRPr lang="en-US" sz="11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The security gate</a:t>
            </a:r>
            <a:endParaRPr lang="en-US" sz="3200" dirty="0"/>
          </a:p>
        </p:txBody>
      </p:sp>
      <p:sp>
        <p:nvSpPr>
          <p:cNvPr id="3" name="Text 1"/>
          <p:cNvSpPr txBox="1"/>
          <p:nvPr/>
        </p:nvSpPr>
        <p:spPr>
          <a:xfrm>
            <a:off x="640080" y="1298448"/>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Policy</a:t>
            </a:r>
            <a:endParaRPr lang="en-US" sz="1500" dirty="0"/>
          </a:p>
        </p:txBody>
      </p:sp>
      <p:sp>
        <p:nvSpPr>
          <p:cNvPr id="4" name="mono-1.82"/>
          <p:cNvSpPr/>
          <p:nvPr/>
        </p:nvSpPr>
        <p:spPr>
          <a:xfrm>
            <a:off x="640080" y="1664208"/>
            <a:ext cx="5394960" cy="1188720"/>
          </a:xfrm>
          <a:prstGeom prst="roundRect">
            <a:avLst>
              <a:gd name="adj" fmla="val 6154"/>
            </a:avLst>
          </a:prstGeom>
          <a:solidFill>
            <a:srgbClr val="0E1620"/>
          </a:solidFill>
          <a:ln w="12700">
            <a:solidFill>
              <a:srgbClr val="0E1620"/>
            </a:solidFill>
            <a:prstDash val="solid"/>
          </a:ln>
        </p:spPr>
      </p:sp>
      <p:sp>
        <p:nvSpPr>
          <p:cNvPr id="5" name="Text 3"/>
          <p:cNvSpPr txBox="1"/>
          <p:nvPr/>
        </p:nvSpPr>
        <p:spPr>
          <a:xfrm>
            <a:off x="804672" y="1773936"/>
            <a:ext cx="5065776" cy="96926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severity:        HIGH,CRITICAL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ignore-unfixed:  true     # no patch anywhere yet -&gt; report, do not block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exit-code:       1        # anything else fails the job before the push</a:t>
            </a:r>
            <a:endParaRPr lang="en-US" sz="1100" dirty="0"/>
          </a:p>
        </p:txBody>
      </p:sp>
      <p:sp>
        <p:nvSpPr>
          <p:cNvPr id="6" name="Text 4"/>
          <p:cNvSpPr txBox="1"/>
          <p:nvPr/>
        </p:nvSpPr>
        <p:spPr>
          <a:xfrm>
            <a:off x="640080" y="3017520"/>
            <a:ext cx="5394960" cy="118872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The reasoning: a vulnerability we can clear by bumping a version should stop the build, because the fix is cheap. One with no fix available anywhere should be visible but must not freeze every release.</a:t>
            </a:r>
            <a:endParaRPr lang="en-US" sz="1250" dirty="0"/>
          </a:p>
        </p:txBody>
      </p:sp>
      <p:sp>
        <p:nvSpPr>
          <p:cNvPr id="7" name="Text 5"/>
          <p:cNvSpPr txBox="1"/>
          <p:nvPr/>
        </p:nvSpPr>
        <p:spPr>
          <a:xfrm>
            <a:off x="6492240" y="1298448"/>
            <a:ext cx="5029200" cy="292608"/>
          </a:xfrm>
          <a:prstGeom prst="rect">
            <a:avLst/>
          </a:prstGeom>
          <a:noFill/>
          <a:ln/>
        </p:spPr>
        <p:txBody>
          <a:bodyPr wrap="square" lIns="0" tIns="0" rIns="0" bIns="0" rtlCol="0" anchor="ctr"/>
          <a:lstStyle/>
          <a:p>
            <a:pPr indent="0" marL="0">
              <a:buNone/>
            </a:pPr>
            <a:r>
              <a:rPr lang="en-US" sz="1500" b="1" dirty="0">
                <a:solidFill>
                  <a:schemeClr val="tx1"/>
                </a:solidFill>
              </a:rPr>
              <a:t>Result on this repository</a:t>
            </a:r>
            <a:endParaRPr lang="en-US" sz="1500" dirty="0"/>
          </a:p>
        </p:txBody>
      </p:sp>
      <p:sp>
        <p:nvSpPr>
          <p:cNvPr id="8" name="card-7.1000000000000005-1.82"/>
          <p:cNvSpPr/>
          <p:nvPr/>
        </p:nvSpPr>
        <p:spPr>
          <a:xfrm>
            <a:off x="6492240" y="1664208"/>
            <a:ext cx="5029200" cy="1188720"/>
          </a:xfrm>
          <a:prstGeom prst="roundRect">
            <a:avLst>
              <a:gd name="adj" fmla="val 769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9" name="Text 7"/>
          <p:cNvSpPr txBox="1"/>
          <p:nvPr/>
        </p:nvSpPr>
        <p:spPr>
          <a:xfrm>
            <a:off x="6720840" y="1783080"/>
            <a:ext cx="914400" cy="868680"/>
          </a:xfrm>
          <a:prstGeom prst="rect">
            <a:avLst/>
          </a:prstGeom>
          <a:noFill/>
          <a:ln/>
        </p:spPr>
        <p:txBody>
          <a:bodyPr wrap="square" lIns="0" tIns="0" rIns="0" bIns="0" rtlCol="0" anchor="ctr"/>
          <a:lstStyle/>
          <a:p>
            <a:pPr algn="l" indent="0" marL="0">
              <a:buNone/>
            </a:pPr>
            <a:r>
              <a:rPr lang="en-US" sz="4400" b="1" dirty="0">
                <a:solidFill>
                  <a:schemeClr val="accent2"/>
                </a:solidFill>
              </a:rPr>
              <a:t>0</a:t>
            </a:r>
            <a:endParaRPr lang="en-US" sz="4400" dirty="0"/>
          </a:p>
        </p:txBody>
      </p:sp>
      <p:sp>
        <p:nvSpPr>
          <p:cNvPr id="10" name="Text 8"/>
          <p:cNvSpPr txBox="1"/>
          <p:nvPr/>
        </p:nvSpPr>
        <p:spPr>
          <a:xfrm>
            <a:off x="7680960" y="1874520"/>
            <a:ext cx="3108960" cy="86868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fixable HIGH or CRITICAL findings on either image, scanned in the run that pushed them.</a:t>
            </a:r>
            <a:endParaRPr lang="en-US" sz="1250" dirty="0"/>
          </a:p>
        </p:txBody>
      </p:sp>
      <p:sp>
        <p:nvSpPr>
          <p:cNvPr id="11" name="mono-3.3"/>
          <p:cNvSpPr/>
          <p:nvPr/>
        </p:nvSpPr>
        <p:spPr>
          <a:xfrm>
            <a:off x="6492240" y="3017520"/>
            <a:ext cx="5029200" cy="1188720"/>
          </a:xfrm>
          <a:prstGeom prst="roundRect">
            <a:avLst>
              <a:gd name="adj" fmla="val 6154"/>
            </a:avLst>
          </a:prstGeom>
          <a:solidFill>
            <a:srgbClr val="0E1620"/>
          </a:solidFill>
          <a:ln w="12700">
            <a:solidFill>
              <a:srgbClr val="0E1620"/>
            </a:solidFill>
            <a:prstDash val="solid"/>
          </a:ln>
        </p:spPr>
      </p:sp>
      <p:sp>
        <p:nvSpPr>
          <p:cNvPr id="12" name="Text 10"/>
          <p:cNvSpPr txBox="1"/>
          <p:nvPr/>
        </p:nvSpPr>
        <p:spPr>
          <a:xfrm>
            <a:off x="6656832" y="3127248"/>
            <a:ext cx="4700016" cy="96926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issue-tracker-backend  (debian 13.7)   0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issue-tracker-frontend (alpine 3.23.4) 0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bandit  No issues identified.  High: 0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semgrep Findings: 0 (0 blocking)</a:t>
            </a:r>
            <a:endParaRPr lang="en-US" sz="1100" dirty="0"/>
          </a:p>
        </p:txBody>
      </p:sp>
      <p:sp>
        <p:nvSpPr>
          <p:cNvPr id="13" name="card-0.7-4.8"/>
          <p:cNvSpPr/>
          <p:nvPr/>
        </p:nvSpPr>
        <p:spPr>
          <a:xfrm>
            <a:off x="640080" y="4389120"/>
            <a:ext cx="10881360" cy="960120"/>
          </a:xfrm>
          <a:prstGeom prst="roundRect">
            <a:avLst>
              <a:gd name="adj" fmla="val 9524"/>
            </a:avLst>
          </a:prstGeom>
          <a:solidFill>
            <a:srgbClr val="FDF1E7"/>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Text 12"/>
          <p:cNvSpPr txBox="1"/>
          <p:nvPr/>
        </p:nvSpPr>
        <p:spPr>
          <a:xfrm>
            <a:off x="868680" y="4553712"/>
            <a:ext cx="10424160" cy="68580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A scan that fails the build is only worth having if the fix is cheap. Base-image updates are, which is what makes a hard failure on fixable findings a reasonable default rather than an obstacle.</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Kubernetes and Helm</a:t>
            </a:r>
            <a:endParaRPr lang="en-US" sz="3200" dirty="0"/>
          </a:p>
        </p:txBody>
      </p:sp>
      <p:sp>
        <p:nvSpPr>
          <p:cNvPr id="3" name="Text 1"/>
          <p:cNvSpPr txBox="1"/>
          <p:nvPr/>
        </p:nvSpPr>
        <p:spPr>
          <a:xfrm>
            <a:off x="640080" y="1280160"/>
            <a:ext cx="10881360" cy="411480"/>
          </a:xfrm>
          <a:prstGeom prst="rect">
            <a:avLst/>
          </a:prstGeom>
          <a:noFill/>
          <a:ln/>
        </p:spPr>
        <p:txBody>
          <a:bodyPr wrap="square" lIns="0" tIns="0" rIns="0" bIns="0" rtlCol="0" anchor="t"/>
          <a:lstStyle/>
          <a:p>
            <a:pPr indent="0" marL="0">
              <a:lnSpc>
                <a:spcPct val="115000"/>
              </a:lnSpc>
              <a:buNone/>
            </a:pPr>
            <a:r>
              <a:rPr lang="en-US" sz="1350" dirty="0">
                <a:solidFill>
                  <a:srgbClr val="44525E"/>
                </a:solidFill>
              </a:rPr>
              <a:t>One chart creates the whole release; three value files point it at different environments.</a:t>
            </a:r>
            <a:endParaRPr lang="en-US" sz="1350" dirty="0"/>
          </a:p>
        </p:txBody>
      </p:sp>
      <p:sp>
        <p:nvSpPr>
          <p:cNvPr id="4" name="card-0.7-2"/>
          <p:cNvSpPr/>
          <p:nvPr/>
        </p:nvSpPr>
        <p:spPr>
          <a:xfrm>
            <a:off x="640080" y="1828800"/>
            <a:ext cx="67665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5" name="Text 3"/>
          <p:cNvSpPr txBox="1"/>
          <p:nvPr/>
        </p:nvSpPr>
        <p:spPr>
          <a:xfrm>
            <a:off x="914400" y="195681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postgres</a:t>
            </a:r>
            <a:endParaRPr lang="en-US" sz="1500" dirty="0"/>
          </a:p>
        </p:txBody>
      </p:sp>
      <p:sp>
        <p:nvSpPr>
          <p:cNvPr id="6" name="Text 4"/>
          <p:cNvSpPr txBox="1"/>
          <p:nvPr/>
        </p:nvSpPr>
        <p:spPr>
          <a:xfrm>
            <a:off x="2926080" y="1975104"/>
            <a:ext cx="4343400" cy="54864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StatefulSet with a volumeClaimTemplate, headless Service, pg_isready probes, credentials from a Secret</a:t>
            </a:r>
            <a:endParaRPr lang="en-US" sz="1150" dirty="0"/>
          </a:p>
        </p:txBody>
      </p:sp>
      <p:sp>
        <p:nvSpPr>
          <p:cNvPr id="7" name="card-0.7-3"/>
          <p:cNvSpPr/>
          <p:nvPr/>
        </p:nvSpPr>
        <p:spPr>
          <a:xfrm>
            <a:off x="640080" y="2743200"/>
            <a:ext cx="67665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8" name="Text 6"/>
          <p:cNvSpPr txBox="1"/>
          <p:nvPr/>
        </p:nvSpPr>
        <p:spPr>
          <a:xfrm>
            <a:off x="914400" y="287121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backend</a:t>
            </a:r>
            <a:endParaRPr lang="en-US" sz="1500" dirty="0"/>
          </a:p>
        </p:txBody>
      </p:sp>
      <p:sp>
        <p:nvSpPr>
          <p:cNvPr id="9" name="Text 7"/>
          <p:cNvSpPr txBox="1"/>
          <p:nvPr/>
        </p:nvSpPr>
        <p:spPr>
          <a:xfrm>
            <a:off x="2926080" y="2889504"/>
            <a:ext cx="4343400" cy="54864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Two replicas, startup / readiness / liveness probes, runAsNonRoot, capabilities dropped, scrape annotations</a:t>
            </a:r>
            <a:endParaRPr lang="en-US" sz="1150" dirty="0"/>
          </a:p>
        </p:txBody>
      </p:sp>
      <p:sp>
        <p:nvSpPr>
          <p:cNvPr id="10" name="card-0.7-4"/>
          <p:cNvSpPr/>
          <p:nvPr/>
        </p:nvSpPr>
        <p:spPr>
          <a:xfrm>
            <a:off x="640080" y="3657600"/>
            <a:ext cx="67665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1" name="Text 9"/>
          <p:cNvSpPr txBox="1"/>
          <p:nvPr/>
        </p:nvSpPr>
        <p:spPr>
          <a:xfrm>
            <a:off x="914400" y="378561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frontend</a:t>
            </a:r>
            <a:endParaRPr lang="en-US" sz="1500" dirty="0"/>
          </a:p>
        </p:txBody>
      </p:sp>
      <p:sp>
        <p:nvSpPr>
          <p:cNvPr id="12" name="Text 10"/>
          <p:cNvSpPr txBox="1"/>
          <p:nvPr/>
        </p:nvSpPr>
        <p:spPr>
          <a:xfrm>
            <a:off x="2926080" y="3803904"/>
            <a:ext cx="4343400" cy="54864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nginx serving the built bundle, config from a ConfigMap that proxies /api to the backend Service</a:t>
            </a:r>
            <a:endParaRPr lang="en-US" sz="1150" dirty="0"/>
          </a:p>
        </p:txBody>
      </p:sp>
      <p:sp>
        <p:nvSpPr>
          <p:cNvPr id="13" name="card-0.7-5"/>
          <p:cNvSpPr/>
          <p:nvPr/>
        </p:nvSpPr>
        <p:spPr>
          <a:xfrm>
            <a:off x="640080" y="4572000"/>
            <a:ext cx="6766560" cy="786384"/>
          </a:xfrm>
          <a:prstGeom prst="roundRect">
            <a:avLst>
              <a:gd name="adj" fmla="val 11628"/>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Text 12"/>
          <p:cNvSpPr txBox="1"/>
          <p:nvPr/>
        </p:nvSpPr>
        <p:spPr>
          <a:xfrm>
            <a:off x="914400" y="4700016"/>
            <a:ext cx="2103120" cy="292608"/>
          </a:xfrm>
          <a:prstGeom prst="rect">
            <a:avLst/>
          </a:prstGeom>
          <a:noFill/>
          <a:ln/>
        </p:spPr>
        <p:txBody>
          <a:bodyPr wrap="square" lIns="0" tIns="0" rIns="0" bIns="0" rtlCol="0" anchor="ctr"/>
          <a:lstStyle/>
          <a:p>
            <a:pPr indent="0" marL="0">
              <a:buNone/>
            </a:pPr>
            <a:r>
              <a:rPr lang="en-US" sz="1500" b="1" dirty="0">
                <a:solidFill>
                  <a:schemeClr val="tx1"/>
                </a:solidFill>
              </a:rPr>
              <a:t>Ingress + HPA</a:t>
            </a:r>
            <a:endParaRPr lang="en-US" sz="1500" dirty="0"/>
          </a:p>
        </p:txBody>
      </p:sp>
      <p:sp>
        <p:nvSpPr>
          <p:cNvPr id="15" name="Text 13"/>
          <p:cNvSpPr txBox="1"/>
          <p:nvPr/>
        </p:nvSpPr>
        <p:spPr>
          <a:xfrm>
            <a:off x="2926080" y="4718304"/>
            <a:ext cx="4343400" cy="548640"/>
          </a:xfrm>
          <a:prstGeom prst="rect">
            <a:avLst/>
          </a:prstGeom>
          <a:noFill/>
          <a:ln/>
        </p:spPr>
        <p:txBody>
          <a:bodyPr wrap="square" lIns="0" tIns="0" rIns="0" bIns="0" rtlCol="0" anchor="t"/>
          <a:lstStyle/>
          <a:p>
            <a:pPr indent="0" marL="0">
              <a:lnSpc>
                <a:spcPct val="115000"/>
              </a:lnSpc>
              <a:buNone/>
            </a:pPr>
            <a:r>
              <a:rPr lang="en-US" sz="1150" dirty="0">
                <a:solidFill>
                  <a:srgbClr val="44525E"/>
                </a:solidFill>
              </a:rPr>
              <a:t>tracker.local routes / and /api; the autoscaler holds the backend between 2 and 5 replicas at 60% CPU</a:t>
            </a:r>
            <a:endParaRPr lang="en-US" sz="1150" dirty="0"/>
          </a:p>
        </p:txBody>
      </p:sp>
      <p:sp>
        <p:nvSpPr>
          <p:cNvPr id="16" name="Text 14"/>
          <p:cNvSpPr txBox="1"/>
          <p:nvPr/>
        </p:nvSpPr>
        <p:spPr>
          <a:xfrm>
            <a:off x="7772400" y="1737360"/>
            <a:ext cx="3840480" cy="292608"/>
          </a:xfrm>
          <a:prstGeom prst="rect">
            <a:avLst/>
          </a:prstGeom>
          <a:noFill/>
          <a:ln/>
        </p:spPr>
        <p:txBody>
          <a:bodyPr wrap="square" lIns="0" tIns="0" rIns="0" bIns="0" rtlCol="0" anchor="ctr"/>
          <a:lstStyle/>
          <a:p>
            <a:pPr indent="0" marL="0">
              <a:buNone/>
            </a:pPr>
            <a:r>
              <a:rPr lang="en-US" sz="1500" b="1" dirty="0">
                <a:solidFill>
                  <a:schemeClr val="tx1"/>
                </a:solidFill>
              </a:rPr>
              <a:t>A detail that matters</a:t>
            </a:r>
            <a:endParaRPr lang="en-US" sz="1500" dirty="0"/>
          </a:p>
        </p:txBody>
      </p:sp>
      <p:sp>
        <p:nvSpPr>
          <p:cNvPr id="17" name="card-8.5-2.3"/>
          <p:cNvSpPr/>
          <p:nvPr/>
        </p:nvSpPr>
        <p:spPr>
          <a:xfrm>
            <a:off x="7772400" y="2103120"/>
            <a:ext cx="3749040" cy="1920240"/>
          </a:xfrm>
          <a:prstGeom prst="roundRect">
            <a:avLst>
              <a:gd name="adj" fmla="val 476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8" name="Text 16"/>
          <p:cNvSpPr txBox="1"/>
          <p:nvPr/>
        </p:nvSpPr>
        <p:spPr>
          <a:xfrm>
            <a:off x="8001000" y="2286000"/>
            <a:ext cx="3291840" cy="160020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The backend Deployment carries a checksum of the ConfigMap and Secret as an annotation. Change the configuration and the checksum changes, so the Pods roll. Without it, a config change updates the objects and nothing restarts to pick it up.</a:t>
            </a:r>
            <a:endParaRPr lang="en-US" sz="1250" dirty="0"/>
          </a:p>
        </p:txBody>
      </p:sp>
      <p:sp>
        <p:nvSpPr>
          <p:cNvPr id="19" name="mono-4.6"/>
          <p:cNvSpPr/>
          <p:nvPr/>
        </p:nvSpPr>
        <p:spPr>
          <a:xfrm>
            <a:off x="7772400" y="4206240"/>
            <a:ext cx="3749040" cy="1097280"/>
          </a:xfrm>
          <a:prstGeom prst="roundRect">
            <a:avLst>
              <a:gd name="adj" fmla="val 6667"/>
            </a:avLst>
          </a:prstGeom>
          <a:solidFill>
            <a:srgbClr val="0E1620"/>
          </a:solidFill>
          <a:ln w="12700">
            <a:solidFill>
              <a:srgbClr val="0E1620"/>
            </a:solidFill>
            <a:prstDash val="solid"/>
          </a:ln>
        </p:spPr>
      </p:sp>
      <p:sp>
        <p:nvSpPr>
          <p:cNvPr id="20" name="Text 18"/>
          <p:cNvSpPr txBox="1"/>
          <p:nvPr/>
        </p:nvSpPr>
        <p:spPr>
          <a:xfrm>
            <a:off x="7936992" y="4315968"/>
            <a:ext cx="3419856" cy="87782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helm lint   ok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helm upgrade --install tracker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--wait --timeout 5m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STATUS: deployed</a:t>
            </a:r>
            <a:endParaRPr lang="en-US" sz="11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Observability and autoscaling</a:t>
            </a:r>
            <a:endParaRPr lang="en-US" sz="3200" dirty="0"/>
          </a:p>
        </p:txBody>
      </p:sp>
      <p:sp>
        <p:nvSpPr>
          <p:cNvPr id="3" name="card-0.7-1.5"/>
          <p:cNvSpPr/>
          <p:nvPr/>
        </p:nvSpPr>
        <p:spPr>
          <a:xfrm>
            <a:off x="640080" y="1371600"/>
            <a:ext cx="10881360" cy="1188720"/>
          </a:xfrm>
          <a:prstGeom prst="roundRect">
            <a:avLst>
              <a:gd name="adj" fmla="val 769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4" name="dot-1"/>
          <p:cNvSpPr/>
          <p:nvPr/>
        </p:nvSpPr>
        <p:spPr>
          <a:xfrm>
            <a:off x="932688" y="1609344"/>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4"/>
          <p:cNvSpPr txBox="1"/>
          <p:nvPr/>
        </p:nvSpPr>
        <p:spPr>
          <a:xfrm>
            <a:off x="1554480" y="1591056"/>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Discovery by annotation</a:t>
            </a:r>
            <a:endParaRPr lang="en-US" sz="1500" dirty="0"/>
          </a:p>
        </p:txBody>
      </p:sp>
      <p:sp>
        <p:nvSpPr>
          <p:cNvPr id="7" name="Text 5"/>
          <p:cNvSpPr txBox="1"/>
          <p:nvPr/>
        </p:nvSpPr>
        <p:spPr>
          <a:xfrm>
            <a:off x="1554480" y="1938528"/>
            <a:ext cx="9601200" cy="621792"/>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Prometheus keeps only Pods annotated prometheus.io/scrape. The chart puts that annotation on the backend, so a Pod the HPA creates is scraped within one interval, with no edit to the scrape config.</a:t>
            </a:r>
            <a:endParaRPr lang="en-US" sz="1250" dirty="0"/>
          </a:p>
        </p:txBody>
      </p:sp>
      <p:sp>
        <p:nvSpPr>
          <p:cNvPr id="8" name="card-0.7-3"/>
          <p:cNvSpPr/>
          <p:nvPr/>
        </p:nvSpPr>
        <p:spPr>
          <a:xfrm>
            <a:off x="640080" y="2743200"/>
            <a:ext cx="10881360" cy="1188720"/>
          </a:xfrm>
          <a:prstGeom prst="roundRect">
            <a:avLst>
              <a:gd name="adj" fmla="val 769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9" name="dot-2"/>
          <p:cNvSpPr/>
          <p:nvPr/>
        </p:nvSpPr>
        <p:spPr>
          <a:xfrm>
            <a:off x="932688" y="2980944"/>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932688" y="2980944"/>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9"/>
          <p:cNvSpPr txBox="1"/>
          <p:nvPr/>
        </p:nvSpPr>
        <p:spPr>
          <a:xfrm>
            <a:off x="1554480" y="2962656"/>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What the app exposes</a:t>
            </a:r>
            <a:endParaRPr lang="en-US" sz="1500" dirty="0"/>
          </a:p>
        </p:txBody>
      </p:sp>
      <p:sp>
        <p:nvSpPr>
          <p:cNvPr id="12" name="Text 10"/>
          <p:cNvSpPr txBox="1"/>
          <p:nvPr/>
        </p:nvSpPr>
        <p:spPr>
          <a:xfrm>
            <a:off x="1554480" y="3310128"/>
            <a:ext cx="9601200" cy="621792"/>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A request counter by route and status, a latency histogram, an in-flight gauge, and a counter of issues created. The last one is a business signal, not an infrastructure one.</a:t>
            </a:r>
            <a:endParaRPr lang="en-US" sz="1250" dirty="0"/>
          </a:p>
        </p:txBody>
      </p:sp>
      <p:sp>
        <p:nvSpPr>
          <p:cNvPr id="13" name="card-0.7-4.5"/>
          <p:cNvSpPr/>
          <p:nvPr/>
        </p:nvSpPr>
        <p:spPr>
          <a:xfrm>
            <a:off x="640080" y="4114800"/>
            <a:ext cx="10881360" cy="1188720"/>
          </a:xfrm>
          <a:prstGeom prst="roundRect">
            <a:avLst>
              <a:gd name="adj" fmla="val 769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4" name="dot-3"/>
          <p:cNvSpPr/>
          <p:nvPr/>
        </p:nvSpPr>
        <p:spPr>
          <a:xfrm>
            <a:off x="932688" y="4352544"/>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932688" y="4352544"/>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6" name="Text 14"/>
          <p:cNvSpPr txBox="1"/>
          <p:nvPr/>
        </p:nvSpPr>
        <p:spPr>
          <a:xfrm>
            <a:off x="1554480" y="4334256"/>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Alerts, not just graphs</a:t>
            </a:r>
            <a:endParaRPr lang="en-US" sz="1500" dirty="0"/>
          </a:p>
        </p:txBody>
      </p:sp>
      <p:sp>
        <p:nvSpPr>
          <p:cNvPr id="17" name="Text 15"/>
          <p:cNvSpPr txBox="1"/>
          <p:nvPr/>
        </p:nvSpPr>
        <p:spPr>
          <a:xfrm>
            <a:off x="1554480" y="4681728"/>
            <a:ext cx="9601200" cy="621792"/>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BackendHighErrorRate fires when 5xx stays above five percent for two minutes. BackendDown fires when the target disappears. A dashboard nobody is watching catches nothing.</a:t>
            </a:r>
            <a:endParaRPr lang="en-US" sz="1250" dirty="0"/>
          </a:p>
        </p:txBody>
      </p:sp>
      <p:sp>
        <p:nvSpPr>
          <p:cNvPr id="18" name="card-0.7-6.15"/>
          <p:cNvSpPr/>
          <p:nvPr/>
        </p:nvSpPr>
        <p:spPr>
          <a:xfrm>
            <a:off x="640080" y="5623560"/>
            <a:ext cx="10881360" cy="713232"/>
          </a:xfrm>
          <a:prstGeom prst="roundRect">
            <a:avLst>
              <a:gd name="adj" fmla="val 12821"/>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9" name="Text 17"/>
          <p:cNvSpPr txBox="1"/>
          <p:nvPr/>
        </p:nvSpPr>
        <p:spPr>
          <a:xfrm>
            <a:off x="868680" y="5779008"/>
            <a:ext cx="10424160" cy="45720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The autoscaler and the scrape configuration are designed together: neither one needs to know how many replicas there will be.</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GitOps with Argo CD</a:t>
            </a:r>
            <a:endParaRPr lang="en-US" sz="3200" dirty="0"/>
          </a:p>
        </p:txBody>
      </p:sp>
      <p:sp>
        <p:nvSpPr>
          <p:cNvPr id="3" name="Text 1"/>
          <p:cNvSpPr txBox="1"/>
          <p:nvPr/>
        </p:nvSpPr>
        <p:spPr>
          <a:xfrm>
            <a:off x="640080" y="1280160"/>
            <a:ext cx="10881360" cy="411480"/>
          </a:xfrm>
          <a:prstGeom prst="rect">
            <a:avLst/>
          </a:prstGeom>
          <a:noFill/>
          <a:ln/>
        </p:spPr>
        <p:txBody>
          <a:bodyPr wrap="square" lIns="0" tIns="0" rIns="0" bIns="0" rtlCol="0" anchor="t"/>
          <a:lstStyle/>
          <a:p>
            <a:pPr indent="0" marL="0">
              <a:lnSpc>
                <a:spcPct val="115000"/>
              </a:lnSpc>
              <a:buNone/>
            </a:pPr>
            <a:r>
              <a:rPr lang="en-US" sz="1350" dirty="0">
                <a:solidFill>
                  <a:srgbClr val="44525E"/>
                </a:solidFill>
              </a:rPr>
              <a:t>An Application object points at the chart in this repository with automated sync, prune and self-heal.</a:t>
            </a:r>
            <a:endParaRPr lang="en-US" sz="1350" dirty="0"/>
          </a:p>
        </p:txBody>
      </p:sp>
      <p:sp>
        <p:nvSpPr>
          <p:cNvPr id="4" name="card-0.7-2"/>
          <p:cNvSpPr/>
          <p:nvPr/>
        </p:nvSpPr>
        <p:spPr>
          <a:xfrm>
            <a:off x="640080" y="1828800"/>
            <a:ext cx="5394960" cy="1417320"/>
          </a:xfrm>
          <a:prstGeom prst="roundRect">
            <a:avLst>
              <a:gd name="adj" fmla="val 6452"/>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5" name="Text 3"/>
          <p:cNvSpPr txBox="1"/>
          <p:nvPr/>
        </p:nvSpPr>
        <p:spPr>
          <a:xfrm>
            <a:off x="914400" y="2011680"/>
            <a:ext cx="4754880" cy="292608"/>
          </a:xfrm>
          <a:prstGeom prst="rect">
            <a:avLst/>
          </a:prstGeom>
          <a:noFill/>
          <a:ln/>
        </p:spPr>
        <p:txBody>
          <a:bodyPr wrap="square" lIns="0" tIns="0" rIns="0" bIns="0" rtlCol="0" anchor="ctr"/>
          <a:lstStyle/>
          <a:p>
            <a:pPr indent="0" marL="0">
              <a:buNone/>
            </a:pPr>
            <a:r>
              <a:rPr lang="en-US" sz="1500" b="1" dirty="0">
                <a:solidFill>
                  <a:schemeClr val="tx1"/>
                </a:solidFill>
              </a:rPr>
              <a:t>Git becomes the deployment</a:t>
            </a:r>
            <a:endParaRPr lang="en-US" sz="1500" dirty="0"/>
          </a:p>
        </p:txBody>
      </p:sp>
      <p:sp>
        <p:nvSpPr>
          <p:cNvPr id="6" name="Text 4"/>
          <p:cNvSpPr txBox="1"/>
          <p:nvPr/>
        </p:nvSpPr>
        <p:spPr>
          <a:xfrm>
            <a:off x="914400" y="2340864"/>
            <a:ext cx="4846320" cy="77724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Change a value, commit, push. Argo CD notices the new commit and reconciles the cluster. No helm or kubectl command is run by a person.</a:t>
            </a:r>
            <a:endParaRPr lang="en-US" sz="1250" dirty="0"/>
          </a:p>
        </p:txBody>
      </p:sp>
      <p:sp>
        <p:nvSpPr>
          <p:cNvPr id="7" name="card-7.1000000000000005-2"/>
          <p:cNvSpPr/>
          <p:nvPr/>
        </p:nvSpPr>
        <p:spPr>
          <a:xfrm>
            <a:off x="6492240" y="1828800"/>
            <a:ext cx="5029200" cy="1417320"/>
          </a:xfrm>
          <a:prstGeom prst="roundRect">
            <a:avLst>
              <a:gd name="adj" fmla="val 6452"/>
            </a:avLst>
          </a:prstGeom>
          <a:solidFill>
            <a:srgbClr val="FDF1E7"/>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8" name="Text 6"/>
          <p:cNvSpPr txBox="1"/>
          <p:nvPr/>
        </p:nvSpPr>
        <p:spPr>
          <a:xfrm>
            <a:off x="6766560" y="2011680"/>
            <a:ext cx="4572000" cy="292608"/>
          </a:xfrm>
          <a:prstGeom prst="rect">
            <a:avLst/>
          </a:prstGeom>
          <a:noFill/>
          <a:ln/>
        </p:spPr>
        <p:txBody>
          <a:bodyPr wrap="square" lIns="0" tIns="0" rIns="0" bIns="0" rtlCol="0" anchor="ctr"/>
          <a:lstStyle/>
          <a:p>
            <a:pPr indent="0" marL="0">
              <a:buNone/>
            </a:pPr>
            <a:r>
              <a:rPr lang="en-US" sz="1500" b="1" dirty="0">
                <a:solidFill>
                  <a:schemeClr val="tx1"/>
                </a:solidFill>
              </a:rPr>
              <a:t>The lesson from the run</a:t>
            </a:r>
            <a:endParaRPr lang="en-US" sz="1500" dirty="0"/>
          </a:p>
        </p:txBody>
      </p:sp>
      <p:sp>
        <p:nvSpPr>
          <p:cNvPr id="9" name="Text 7"/>
          <p:cNvSpPr txBox="1"/>
          <p:nvPr/>
        </p:nvSpPr>
        <p:spPr>
          <a:xfrm>
            <a:off x="6766560" y="2340864"/>
            <a:ext cx="4663440" cy="77724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ignoreDifferences on /spec/replicas has to name the HPA-managed Deployment. Applied to every Deployment, it made Argo CD ignore a deliberate frontend change too.</a:t>
            </a:r>
            <a:endParaRPr lang="en-US" sz="1250" dirty="0"/>
          </a:p>
        </p:txBody>
      </p:sp>
      <p:sp>
        <p:nvSpPr>
          <p:cNvPr id="10" name="mono-3.75"/>
          <p:cNvSpPr/>
          <p:nvPr/>
        </p:nvSpPr>
        <p:spPr>
          <a:xfrm>
            <a:off x="640080" y="3429000"/>
            <a:ext cx="10881360" cy="1371600"/>
          </a:xfrm>
          <a:prstGeom prst="roundRect">
            <a:avLst>
              <a:gd name="adj" fmla="val 5333"/>
            </a:avLst>
          </a:prstGeom>
          <a:solidFill>
            <a:srgbClr val="0E1620"/>
          </a:solidFill>
          <a:ln w="12700">
            <a:solidFill>
              <a:srgbClr val="0E1620"/>
            </a:solidFill>
            <a:prstDash val="solid"/>
          </a:ln>
        </p:spPr>
      </p:sp>
      <p:sp>
        <p:nvSpPr>
          <p:cNvPr id="11" name="Text 9"/>
          <p:cNvSpPr txBox="1"/>
          <p:nvPr/>
        </p:nvSpPr>
        <p:spPr>
          <a:xfrm>
            <a:off x="804672" y="3538728"/>
            <a:ext cx="10552176" cy="1152144"/>
          </a:xfrm>
          <a:prstGeom prst="rect">
            <a:avLst/>
          </a:prstGeom>
          <a:noFill/>
          <a:ln/>
        </p:spPr>
        <p:txBody>
          <a:bodyPr wrap="square" lIns="0" tIns="0" rIns="0" bIns="0" rtlCol="0" anchor="t"/>
          <a:lstStyle/>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syncPolicy: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automated: { prune: true, selfHeal: true }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ignoreDifferences:
</a:t>
            </a:r>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 group: apps</a:t>
            </a:r>
            <a:endParaRPr lang="en-US" sz="1100" dirty="0"/>
          </a:p>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kind: Deployment</a:t>
            </a:r>
            <a:endParaRPr lang="en-US" sz="1100" dirty="0"/>
          </a:p>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name: tracker-backend      # scoped, not blanket</a:t>
            </a:r>
            <a:endParaRPr lang="en-US" sz="1100" dirty="0"/>
          </a:p>
          <a:p>
            <a:pPr indent="0" marL="0">
              <a:lnSpc>
                <a:spcPct val="122000"/>
              </a:lnSpc>
              <a:buNone/>
            </a:pPr>
            <a:r>
              <a:rPr lang="en-US" sz="1100" dirty="0">
                <a:solidFill>
                  <a:srgbClr val="BFE9E2"/>
                </a:solidFill>
                <a:latin typeface="Courier New" pitchFamily="34" charset="0"/>
                <a:ea typeface="Courier New" pitchFamily="34" charset="-122"/>
                <a:cs typeface="Courier New" pitchFamily="34" charset="-120"/>
              </a:rPr>
              <a:t>    jsonPointers: [/spec/replicas]</a:t>
            </a:r>
            <a:endParaRPr lang="en-US" sz="1100" dirty="0"/>
          </a:p>
        </p:txBody>
      </p:sp>
      <p:sp>
        <p:nvSpPr>
          <p:cNvPr id="12" name="card-0.7-5.45"/>
          <p:cNvSpPr/>
          <p:nvPr/>
        </p:nvSpPr>
        <p:spPr>
          <a:xfrm>
            <a:off x="640080" y="4983480"/>
            <a:ext cx="10881360" cy="868680"/>
          </a:xfrm>
          <a:prstGeom prst="roundRect">
            <a:avLst>
              <a:gd name="adj" fmla="val 10526"/>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3" name="Text 11"/>
          <p:cNvSpPr txBox="1"/>
          <p:nvPr/>
        </p:nvSpPr>
        <p:spPr>
          <a:xfrm>
            <a:off x="868680" y="5148072"/>
            <a:ext cx="10424160" cy="594360"/>
          </a:xfrm>
          <a:prstGeom prst="rect">
            <a:avLst/>
          </a:prstGeom>
          <a:noFill/>
          <a:ln/>
        </p:spPr>
        <p:txBody>
          <a:bodyPr wrap="square" lIns="0" tIns="0" rIns="0" bIns="0" rtlCol="0" anchor="t"/>
          <a:lstStyle/>
          <a:p>
            <a:pPr indent="0" marL="0">
              <a:lnSpc>
                <a:spcPct val="115000"/>
              </a:lnSpc>
              <a:buNone/>
            </a:pPr>
            <a:r>
              <a:rPr lang="en-US" sz="1250" dirty="0">
                <a:solidFill>
                  <a:srgbClr val="44525E"/>
                </a:solidFill>
              </a:rPr>
              <a:t>GitOps and autoscaling disagree about who owns the replica count. Say who owns it, and say it for the right object.</a:t>
            </a:r>
            <a:endParaRPr lang="en-US" sz="125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75488"/>
            <a:ext cx="10881360" cy="731520"/>
          </a:xfrm>
          <a:prstGeom prst="rect">
            <a:avLst/>
          </a:prstGeom>
          <a:noFill/>
          <a:ln/>
        </p:spPr>
        <p:txBody>
          <a:bodyPr wrap="square" rtlCol="0" anchor="ctr"/>
          <a:lstStyle/>
          <a:p>
            <a:pPr algn="l" indent="0" marL="0">
              <a:buNone/>
            </a:pPr>
            <a:r>
              <a:rPr lang="en-US" sz="3200" b="1" dirty="0">
                <a:solidFill>
                  <a:schemeClr val="tx1"/>
                </a:solidFill>
              </a:rPr>
              <a:t>The troubleshooting drill</a:t>
            </a:r>
            <a:endParaRPr lang="en-US" sz="3200" dirty="0"/>
          </a:p>
        </p:txBody>
      </p:sp>
      <p:sp>
        <p:nvSpPr>
          <p:cNvPr id="3" name="Text 1"/>
          <p:cNvSpPr txBox="1"/>
          <p:nvPr/>
        </p:nvSpPr>
        <p:spPr>
          <a:xfrm>
            <a:off x="640080" y="1280160"/>
            <a:ext cx="10881360" cy="411480"/>
          </a:xfrm>
          <a:prstGeom prst="rect">
            <a:avLst/>
          </a:prstGeom>
          <a:noFill/>
          <a:ln/>
        </p:spPr>
        <p:txBody>
          <a:bodyPr wrap="square" lIns="0" tIns="0" rIns="0" bIns="0" rtlCol="0" anchor="t"/>
          <a:lstStyle/>
          <a:p>
            <a:pPr indent="0" marL="0">
              <a:lnSpc>
                <a:spcPct val="115000"/>
              </a:lnSpc>
              <a:buNone/>
            </a:pPr>
            <a:r>
              <a:rPr lang="en-US" sz="1350" dirty="0">
                <a:solidFill>
                  <a:srgbClr val="44525E"/>
                </a:solidFill>
              </a:rPr>
              <a:t>Two faults introduced into the running release, each diagnosed from the cluster before any fix was applied.</a:t>
            </a:r>
            <a:endParaRPr lang="en-US" sz="1350" dirty="0"/>
          </a:p>
        </p:txBody>
      </p:sp>
      <p:sp>
        <p:nvSpPr>
          <p:cNvPr id="4" name="card-0.7-2"/>
          <p:cNvSpPr/>
          <p:nvPr/>
        </p:nvSpPr>
        <p:spPr>
          <a:xfrm>
            <a:off x="640080" y="1828800"/>
            <a:ext cx="10881360" cy="1737360"/>
          </a:xfrm>
          <a:prstGeom prst="roundRect">
            <a:avLst>
              <a:gd name="adj" fmla="val 5263"/>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5" name="dot-1"/>
          <p:cNvSpPr/>
          <p:nvPr/>
        </p:nvSpPr>
        <p:spPr>
          <a:xfrm>
            <a:off x="932688" y="2066544"/>
            <a:ext cx="384048" cy="384048"/>
          </a:xfrm>
          <a:prstGeom prst="ellipse">
            <a:avLst/>
          </a:prstGeom>
          <a:solidFill>
            <a:schemeClr val="accent4"/>
          </a:solidFill>
          <a:ln w="12700">
            <a:solidFill>
              <a:schemeClr val="accent4"/>
            </a:solidFill>
            <a:prstDash val="solid"/>
          </a:ln>
        </p:spPr>
      </p:sp>
      <p:sp>
        <p:nvSpPr>
          <p:cNvPr id="6" name="Text 4"/>
          <p:cNvSpPr txBox="1"/>
          <p:nvPr/>
        </p:nvSpPr>
        <p:spPr>
          <a:xfrm>
            <a:off x="932688" y="2066544"/>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7" name="Text 5"/>
          <p:cNvSpPr txBox="1"/>
          <p:nvPr/>
        </p:nvSpPr>
        <p:spPr>
          <a:xfrm>
            <a:off x="1554480" y="2048256"/>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Wrong database host</a:t>
            </a:r>
            <a:endParaRPr lang="en-US" sz="1500" dirty="0"/>
          </a:p>
        </p:txBody>
      </p:sp>
      <p:sp>
        <p:nvSpPr>
          <p:cNvPr id="8" name="Text 6"/>
          <p:cNvSpPr txBox="1"/>
          <p:nvPr/>
        </p:nvSpPr>
        <p:spPr>
          <a:xfrm>
            <a:off x="1554480" y="2432304"/>
            <a:ext cx="4846320" cy="45720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Symptom: Rollout stuck, new Pod 0/1, old Pods still serving traffic</a:t>
            </a:r>
            <a:endParaRPr lang="en-US" sz="1200" dirty="0"/>
          </a:p>
        </p:txBody>
      </p:sp>
      <p:sp>
        <p:nvSpPr>
          <p:cNvPr id="9" name="Text 7"/>
          <p:cNvSpPr txBox="1"/>
          <p:nvPr/>
        </p:nvSpPr>
        <p:spPr>
          <a:xfrm>
            <a:off x="1554480" y="2907792"/>
            <a:ext cx="6949440" cy="54864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Found with: kubectl logs showed name resolution failing; describe showed the readiness probe never passing</a:t>
            </a:r>
            <a:endParaRPr lang="en-US" sz="1200" dirty="0"/>
          </a:p>
        </p:txBody>
      </p:sp>
      <p:sp>
        <p:nvSpPr>
          <p:cNvPr id="10" name="fix-0"/>
          <p:cNvSpPr/>
          <p:nvPr/>
        </p:nvSpPr>
        <p:spPr>
          <a:xfrm>
            <a:off x="9144000" y="2377440"/>
            <a:ext cx="2103120" cy="566928"/>
          </a:xfrm>
          <a:prstGeom prst="roundRect">
            <a:avLst>
              <a:gd name="adj" fmla="val 12903"/>
            </a:avLst>
          </a:prstGeom>
          <a:solidFill>
            <a:schemeClr val="accent3"/>
          </a:solidFill>
          <a:ln w="12700">
            <a:solidFill>
              <a:schemeClr val="accent3"/>
            </a:solidFill>
            <a:prstDash val="solid"/>
          </a:ln>
        </p:spPr>
      </p:sp>
      <p:sp>
        <p:nvSpPr>
          <p:cNvPr id="11" name="Text 9"/>
          <p:cNvSpPr txBox="1"/>
          <p:nvPr/>
        </p:nvSpPr>
        <p:spPr>
          <a:xfrm>
            <a:off x="9144000" y="2377440"/>
            <a:ext cx="2103120" cy="566928"/>
          </a:xfrm>
          <a:prstGeom prst="rect">
            <a:avLst/>
          </a:prstGeom>
          <a:noFill/>
          <a:ln/>
        </p:spPr>
        <p:txBody>
          <a:bodyPr wrap="square" lIns="0" tIns="0" rIns="0" bIns="0" rtlCol="0" anchor="ctr"/>
          <a:lstStyle/>
          <a:p>
            <a:pPr algn="ctr" indent="0" marL="0">
              <a:buNone/>
            </a:pPr>
            <a:r>
              <a:rPr lang="en-US" sz="1200" b="1" dirty="0">
                <a:solidFill>
                  <a:srgbClr val="0E1620"/>
                </a:solidFill>
              </a:rPr>
              <a:t>helm rollback</a:t>
            </a:r>
            <a:endParaRPr lang="en-US" sz="1200" dirty="0"/>
          </a:p>
        </p:txBody>
      </p:sp>
      <p:sp>
        <p:nvSpPr>
          <p:cNvPr id="12" name="card-0.7-4.1"/>
          <p:cNvSpPr/>
          <p:nvPr/>
        </p:nvSpPr>
        <p:spPr>
          <a:xfrm>
            <a:off x="640080" y="3749040"/>
            <a:ext cx="10881360" cy="1737360"/>
          </a:xfrm>
          <a:prstGeom prst="roundRect">
            <a:avLst>
              <a:gd name="adj" fmla="val 5263"/>
            </a:avLst>
          </a:prstGeom>
          <a:solidFill>
            <a:schemeClr val="bg2"/>
          </a:solidFill>
          <a:ln w="9525">
            <a:solidFill>
              <a:srgbClr val="DCE6E8"/>
            </a:solidFill>
            <a:prstDash val="solid"/>
          </a:ln>
          <a:effectLst>
            <a:outerShdw sx="100000" sy="100000" kx="0" ky="0" algn="bl" rotWithShape="0" blurRad="127000" dist="25400" dir="5400000">
              <a:srgbClr val="0E1620">
                <a:alpha val="10000"/>
              </a:srgbClr>
            </a:outerShdw>
          </a:effectLst>
        </p:spPr>
      </p:sp>
      <p:sp>
        <p:nvSpPr>
          <p:cNvPr id="13" name="dot-2"/>
          <p:cNvSpPr/>
          <p:nvPr/>
        </p:nvSpPr>
        <p:spPr>
          <a:xfrm>
            <a:off x="932688" y="3986784"/>
            <a:ext cx="384048" cy="384048"/>
          </a:xfrm>
          <a:prstGeom prst="ellipse">
            <a:avLst/>
          </a:prstGeom>
          <a:solidFill>
            <a:schemeClr val="accent4"/>
          </a:solidFill>
          <a:ln w="12700">
            <a:solidFill>
              <a:schemeClr val="accent4"/>
            </a:solidFill>
            <a:prstDash val="solid"/>
          </a:ln>
        </p:spPr>
      </p:sp>
      <p:sp>
        <p:nvSpPr>
          <p:cNvPr id="14" name="Text 12"/>
          <p:cNvSpPr txBox="1"/>
          <p:nvPr/>
        </p:nvSpPr>
        <p:spPr>
          <a:xfrm>
            <a:off x="932688" y="3986784"/>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5" name="Text 13"/>
          <p:cNvSpPr txBox="1"/>
          <p:nvPr/>
        </p:nvSpPr>
        <p:spPr>
          <a:xfrm>
            <a:off x="1554480" y="3968496"/>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Ingress to a Service that does not exist</a:t>
            </a:r>
            <a:endParaRPr lang="en-US" sz="1500" dirty="0"/>
          </a:p>
        </p:txBody>
      </p:sp>
      <p:sp>
        <p:nvSpPr>
          <p:cNvPr id="16" name="Text 14"/>
          <p:cNvSpPr txBox="1"/>
          <p:nvPr/>
        </p:nvSpPr>
        <p:spPr>
          <a:xfrm>
            <a:off x="1554480" y="4352544"/>
            <a:ext cx="4846320" cy="45720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Symptom: UI loads, every API call returns 503</a:t>
            </a:r>
            <a:endParaRPr lang="en-US" sz="1200" dirty="0"/>
          </a:p>
        </p:txBody>
      </p:sp>
      <p:sp>
        <p:nvSpPr>
          <p:cNvPr id="17" name="Text 15"/>
          <p:cNvSpPr txBox="1"/>
          <p:nvPr/>
        </p:nvSpPr>
        <p:spPr>
          <a:xfrm>
            <a:off x="1554480" y="4828032"/>
            <a:ext cx="6949440" cy="548640"/>
          </a:xfrm>
          <a:prstGeom prst="rect">
            <a:avLst/>
          </a:prstGeom>
          <a:noFill/>
          <a:ln/>
        </p:spPr>
        <p:txBody>
          <a:bodyPr wrap="square" lIns="0" tIns="0" rIns="0" bIns="0" rtlCol="0" anchor="t"/>
          <a:lstStyle/>
          <a:p>
            <a:pPr indent="0" marL="0">
              <a:lnSpc>
                <a:spcPct val="115000"/>
              </a:lnSpc>
              <a:buNone/>
            </a:pPr>
            <a:r>
              <a:rPr lang="en-US" sz="1200" dirty="0">
                <a:solidFill>
                  <a:srgbClr val="44525E"/>
                </a:solidFill>
              </a:rPr>
              <a:t>Found with: describe ingress named the missing Service; the backend answered fine from inside the cluster</a:t>
            </a:r>
            <a:endParaRPr lang="en-US" sz="1200" dirty="0"/>
          </a:p>
        </p:txBody>
      </p:sp>
      <p:sp>
        <p:nvSpPr>
          <p:cNvPr id="18" name="fix-1"/>
          <p:cNvSpPr/>
          <p:nvPr/>
        </p:nvSpPr>
        <p:spPr>
          <a:xfrm>
            <a:off x="9144000" y="4297680"/>
            <a:ext cx="2103120" cy="566928"/>
          </a:xfrm>
          <a:prstGeom prst="roundRect">
            <a:avLst>
              <a:gd name="adj" fmla="val 12903"/>
            </a:avLst>
          </a:prstGeom>
          <a:solidFill>
            <a:schemeClr val="accent3"/>
          </a:solidFill>
          <a:ln w="12700">
            <a:solidFill>
              <a:schemeClr val="accent3"/>
            </a:solidFill>
            <a:prstDash val="solid"/>
          </a:ln>
        </p:spPr>
      </p:sp>
      <p:sp>
        <p:nvSpPr>
          <p:cNvPr id="19" name="Text 17"/>
          <p:cNvSpPr txBox="1"/>
          <p:nvPr/>
        </p:nvSpPr>
        <p:spPr>
          <a:xfrm>
            <a:off x="9144000" y="4297680"/>
            <a:ext cx="2103120" cy="566928"/>
          </a:xfrm>
          <a:prstGeom prst="rect">
            <a:avLst/>
          </a:prstGeom>
          <a:noFill/>
          <a:ln/>
        </p:spPr>
        <p:txBody>
          <a:bodyPr wrap="square" lIns="0" tIns="0" rIns="0" bIns="0" rtlCol="0" anchor="ctr"/>
          <a:lstStyle/>
          <a:p>
            <a:pPr algn="ctr" indent="0" marL="0">
              <a:buNone/>
            </a:pPr>
            <a:r>
              <a:rPr lang="en-US" sz="1200" b="1" dirty="0">
                <a:solidFill>
                  <a:srgbClr val="0E1620"/>
                </a:solidFill>
              </a:rPr>
              <a:t>re-render the Ingress</a:t>
            </a:r>
            <a:endParaRPr lang="en-US" sz="1200" dirty="0"/>
          </a:p>
        </p:txBody>
      </p:sp>
      <p:sp>
        <p:nvSpPr>
          <p:cNvPr id="25" name="Slide Number Placeholder 0"/>
          <p:cNvSpPr>
            <a:spLocks noGrp="1"/>
          </p:cNvSpPr>
          <p:nvPr>
            <p:ph type="sldNum" sz="quarter" idx="4294967295"/>
          </p:nvPr>
        </p:nvSpPr>
        <p:spPr>
          <a:xfrm>
            <a:off x="11384280" y="6382512"/>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658368"/>
            <a:ext cx="10881360" cy="822960"/>
          </a:xfrm>
          <a:prstGeom prst="rect">
            <a:avLst/>
          </a:prstGeom>
          <a:noFill/>
          <a:ln/>
        </p:spPr>
        <p:txBody>
          <a:bodyPr wrap="square" rtlCol="0" anchor="ctr"/>
          <a:lstStyle/>
          <a:p>
            <a:pPr algn="l" indent="0" marL="0">
              <a:buNone/>
            </a:pPr>
            <a:r>
              <a:rPr lang="en-US" sz="3400" b="1" dirty="0">
                <a:solidFill>
                  <a:schemeClr val="bg1"/>
                </a:solidFill>
              </a:rPr>
              <a:t>What the project shows</a:t>
            </a:r>
            <a:endParaRPr lang="en-US" sz="3400" dirty="0"/>
          </a:p>
        </p:txBody>
      </p:sp>
      <p:sp>
        <p:nvSpPr>
          <p:cNvPr id="3" name="c-0"/>
          <p:cNvSpPr/>
          <p:nvPr/>
        </p:nvSpPr>
        <p:spPr>
          <a:xfrm>
            <a:off x="640080" y="1783080"/>
            <a:ext cx="10881360" cy="822960"/>
          </a:xfrm>
          <a:prstGeom prst="roundRect">
            <a:avLst>
              <a:gd name="adj" fmla="val 10000"/>
            </a:avLst>
          </a:prstGeom>
          <a:solidFill>
            <a:srgbClr val="16222E"/>
          </a:solidFill>
          <a:ln w="12700">
            <a:solidFill>
              <a:srgbClr val="223240"/>
            </a:solidFill>
            <a:prstDash val="solid"/>
          </a:ln>
        </p:spPr>
      </p:sp>
      <p:sp>
        <p:nvSpPr>
          <p:cNvPr id="4" name="cd-0"/>
          <p:cNvSpPr/>
          <p:nvPr/>
        </p:nvSpPr>
        <p:spPr>
          <a:xfrm>
            <a:off x="914400" y="2020824"/>
            <a:ext cx="347472" cy="347472"/>
          </a:xfrm>
          <a:prstGeom prst="ellipse">
            <a:avLst/>
          </a:prstGeom>
          <a:solidFill>
            <a:schemeClr val="accent1"/>
          </a:solidFill>
          <a:ln w="12700">
            <a:solidFill>
              <a:schemeClr val="accent1"/>
            </a:solidFill>
            <a:prstDash val="solid"/>
          </a:ln>
        </p:spPr>
      </p:sp>
      <p:sp>
        <p:nvSpPr>
          <p:cNvPr id="5" name="Text 3"/>
          <p:cNvSpPr txBox="1"/>
          <p:nvPr/>
        </p:nvSpPr>
        <p:spPr>
          <a:xfrm>
            <a:off x="914400" y="2020824"/>
            <a:ext cx="347472" cy="347472"/>
          </a:xfrm>
          <a:prstGeom prst="rect">
            <a:avLst/>
          </a:prstGeom>
          <a:noFill/>
          <a:ln/>
        </p:spPr>
        <p:txBody>
          <a:bodyPr wrap="square" lIns="0" tIns="0" rIns="0" bIns="0" rtlCol="0" anchor="ctr"/>
          <a:lstStyle/>
          <a:p>
            <a:pPr algn="ctr" indent="0" marL="0">
              <a:buNone/>
            </a:pPr>
            <a:r>
              <a:rPr lang="en-US" sz="1200" b="1" dirty="0">
                <a:solidFill>
                  <a:srgbClr val="0E1620"/>
                </a:solidFill>
              </a:rPr>
              <a:t>1</a:t>
            </a:r>
            <a:endParaRPr lang="en-US" sz="1200" dirty="0"/>
          </a:p>
        </p:txBody>
      </p:sp>
      <p:sp>
        <p:nvSpPr>
          <p:cNvPr id="6" name="Text 4"/>
          <p:cNvSpPr txBox="1"/>
          <p:nvPr/>
        </p:nvSpPr>
        <p:spPr>
          <a:xfrm>
            <a:off x="1508760" y="1911096"/>
            <a:ext cx="9646920" cy="566928"/>
          </a:xfrm>
          <a:prstGeom prst="rect">
            <a:avLst/>
          </a:prstGeom>
          <a:noFill/>
          <a:ln/>
        </p:spPr>
        <p:txBody>
          <a:bodyPr wrap="square" lIns="0" tIns="0" rIns="0" bIns="0" rtlCol="0" anchor="ctr"/>
          <a:lstStyle/>
          <a:p>
            <a:pPr indent="0" marL="0">
              <a:lnSpc>
                <a:spcPct val="110000"/>
              </a:lnSpc>
              <a:buNone/>
            </a:pPr>
            <a:r>
              <a:rPr lang="en-US" sz="1300" dirty="0">
                <a:solidFill>
                  <a:srgbClr val="C9DBE0"/>
                </a:solidFill>
              </a:rPr>
              <a:t>A readiness probe that checks the database turned a bad config change into a stuck rollout instead of an outage. The old Pods never stopped serving.</a:t>
            </a:r>
            <a:endParaRPr lang="en-US" sz="1300" dirty="0"/>
          </a:p>
        </p:txBody>
      </p:sp>
      <p:sp>
        <p:nvSpPr>
          <p:cNvPr id="7" name="c-1"/>
          <p:cNvSpPr/>
          <p:nvPr/>
        </p:nvSpPr>
        <p:spPr>
          <a:xfrm>
            <a:off x="640080" y="2743200"/>
            <a:ext cx="10881360" cy="822960"/>
          </a:xfrm>
          <a:prstGeom prst="roundRect">
            <a:avLst>
              <a:gd name="adj" fmla="val 10000"/>
            </a:avLst>
          </a:prstGeom>
          <a:solidFill>
            <a:srgbClr val="16222E"/>
          </a:solidFill>
          <a:ln w="12700">
            <a:solidFill>
              <a:srgbClr val="223240"/>
            </a:solidFill>
            <a:prstDash val="solid"/>
          </a:ln>
        </p:spPr>
      </p:sp>
      <p:sp>
        <p:nvSpPr>
          <p:cNvPr id="8" name="cd-1"/>
          <p:cNvSpPr/>
          <p:nvPr/>
        </p:nvSpPr>
        <p:spPr>
          <a:xfrm>
            <a:off x="914400" y="2980944"/>
            <a:ext cx="347472" cy="347472"/>
          </a:xfrm>
          <a:prstGeom prst="ellipse">
            <a:avLst/>
          </a:prstGeom>
          <a:solidFill>
            <a:schemeClr val="accent1"/>
          </a:solidFill>
          <a:ln w="12700">
            <a:solidFill>
              <a:schemeClr val="accent1"/>
            </a:solidFill>
            <a:prstDash val="solid"/>
          </a:ln>
        </p:spPr>
      </p:sp>
      <p:sp>
        <p:nvSpPr>
          <p:cNvPr id="9" name="Text 7"/>
          <p:cNvSpPr txBox="1"/>
          <p:nvPr/>
        </p:nvSpPr>
        <p:spPr>
          <a:xfrm>
            <a:off x="914400" y="2980944"/>
            <a:ext cx="347472" cy="347472"/>
          </a:xfrm>
          <a:prstGeom prst="rect">
            <a:avLst/>
          </a:prstGeom>
          <a:noFill/>
          <a:ln/>
        </p:spPr>
        <p:txBody>
          <a:bodyPr wrap="square" lIns="0" tIns="0" rIns="0" bIns="0" rtlCol="0" anchor="ctr"/>
          <a:lstStyle/>
          <a:p>
            <a:pPr algn="ctr" indent="0" marL="0">
              <a:buNone/>
            </a:pPr>
            <a:r>
              <a:rPr lang="en-US" sz="1200" b="1" dirty="0">
                <a:solidFill>
                  <a:srgbClr val="0E1620"/>
                </a:solidFill>
              </a:rPr>
              <a:t>2</a:t>
            </a:r>
            <a:endParaRPr lang="en-US" sz="1200" dirty="0"/>
          </a:p>
        </p:txBody>
      </p:sp>
      <p:sp>
        <p:nvSpPr>
          <p:cNvPr id="10" name="Text 8"/>
          <p:cNvSpPr txBox="1"/>
          <p:nvPr/>
        </p:nvSpPr>
        <p:spPr>
          <a:xfrm>
            <a:off x="1508760" y="2871216"/>
            <a:ext cx="9646920" cy="566928"/>
          </a:xfrm>
          <a:prstGeom prst="rect">
            <a:avLst/>
          </a:prstGeom>
          <a:noFill/>
          <a:ln/>
        </p:spPr>
        <p:txBody>
          <a:bodyPr wrap="square" lIns="0" tIns="0" rIns="0" bIns="0" rtlCol="0" anchor="ctr"/>
          <a:lstStyle/>
          <a:p>
            <a:pPr indent="0" marL="0">
              <a:lnSpc>
                <a:spcPct val="110000"/>
              </a:lnSpc>
              <a:buNone/>
            </a:pPr>
            <a:r>
              <a:rPr lang="en-US" sz="1300" dirty="0">
                <a:solidFill>
                  <a:srgbClr val="C9DBE0"/>
                </a:solidFill>
              </a:rPr>
              <a:t>A scan that fails the build is useful only when the fix is cheap, so block on fixable findings and merely report the rest.</a:t>
            </a:r>
            <a:endParaRPr lang="en-US" sz="1300" dirty="0"/>
          </a:p>
        </p:txBody>
      </p:sp>
      <p:sp>
        <p:nvSpPr>
          <p:cNvPr id="11" name="c-2"/>
          <p:cNvSpPr/>
          <p:nvPr/>
        </p:nvSpPr>
        <p:spPr>
          <a:xfrm>
            <a:off x="640080" y="3703320"/>
            <a:ext cx="10881360" cy="822960"/>
          </a:xfrm>
          <a:prstGeom prst="roundRect">
            <a:avLst>
              <a:gd name="adj" fmla="val 10000"/>
            </a:avLst>
          </a:prstGeom>
          <a:solidFill>
            <a:srgbClr val="16222E"/>
          </a:solidFill>
          <a:ln w="12700">
            <a:solidFill>
              <a:srgbClr val="223240"/>
            </a:solidFill>
            <a:prstDash val="solid"/>
          </a:ln>
        </p:spPr>
      </p:sp>
      <p:sp>
        <p:nvSpPr>
          <p:cNvPr id="12" name="cd-2"/>
          <p:cNvSpPr/>
          <p:nvPr/>
        </p:nvSpPr>
        <p:spPr>
          <a:xfrm>
            <a:off x="914400" y="3941064"/>
            <a:ext cx="347472" cy="347472"/>
          </a:xfrm>
          <a:prstGeom prst="ellipse">
            <a:avLst/>
          </a:prstGeom>
          <a:solidFill>
            <a:schemeClr val="accent1"/>
          </a:solidFill>
          <a:ln w="12700">
            <a:solidFill>
              <a:schemeClr val="accent1"/>
            </a:solidFill>
            <a:prstDash val="solid"/>
          </a:ln>
        </p:spPr>
      </p:sp>
      <p:sp>
        <p:nvSpPr>
          <p:cNvPr id="13" name="Text 11"/>
          <p:cNvSpPr txBox="1"/>
          <p:nvPr/>
        </p:nvSpPr>
        <p:spPr>
          <a:xfrm>
            <a:off x="914400" y="3941064"/>
            <a:ext cx="347472" cy="347472"/>
          </a:xfrm>
          <a:prstGeom prst="rect">
            <a:avLst/>
          </a:prstGeom>
          <a:noFill/>
          <a:ln/>
        </p:spPr>
        <p:txBody>
          <a:bodyPr wrap="square" lIns="0" tIns="0" rIns="0" bIns="0" rtlCol="0" anchor="ctr"/>
          <a:lstStyle/>
          <a:p>
            <a:pPr algn="ctr" indent="0" marL="0">
              <a:buNone/>
            </a:pPr>
            <a:r>
              <a:rPr lang="en-US" sz="1200" b="1" dirty="0">
                <a:solidFill>
                  <a:srgbClr val="0E1620"/>
                </a:solidFill>
              </a:rPr>
              <a:t>3</a:t>
            </a:r>
            <a:endParaRPr lang="en-US" sz="1200" dirty="0"/>
          </a:p>
        </p:txBody>
      </p:sp>
      <p:sp>
        <p:nvSpPr>
          <p:cNvPr id="14" name="Text 12"/>
          <p:cNvSpPr txBox="1"/>
          <p:nvPr/>
        </p:nvSpPr>
        <p:spPr>
          <a:xfrm>
            <a:off x="1508760" y="3831336"/>
            <a:ext cx="9646920" cy="566928"/>
          </a:xfrm>
          <a:prstGeom prst="rect">
            <a:avLst/>
          </a:prstGeom>
          <a:noFill/>
          <a:ln/>
        </p:spPr>
        <p:txBody>
          <a:bodyPr wrap="square" lIns="0" tIns="0" rIns="0" bIns="0" rtlCol="0" anchor="ctr"/>
          <a:lstStyle/>
          <a:p>
            <a:pPr indent="0" marL="0">
              <a:lnSpc>
                <a:spcPct val="110000"/>
              </a:lnSpc>
              <a:buNone/>
            </a:pPr>
            <a:r>
              <a:rPr lang="en-US" sz="1300" dirty="0">
                <a:solidFill>
                  <a:srgbClr val="C9DBE0"/>
                </a:solidFill>
              </a:rPr>
              <a:t>GitOps and autoscaling both claim the replica count; the conflict has to be declared, and declared narrowly.</a:t>
            </a:r>
            <a:endParaRPr lang="en-US" sz="1300" dirty="0"/>
          </a:p>
        </p:txBody>
      </p:sp>
      <p:sp>
        <p:nvSpPr>
          <p:cNvPr id="15" name="c-3"/>
          <p:cNvSpPr/>
          <p:nvPr/>
        </p:nvSpPr>
        <p:spPr>
          <a:xfrm>
            <a:off x="640080" y="4663440"/>
            <a:ext cx="10881360" cy="822960"/>
          </a:xfrm>
          <a:prstGeom prst="roundRect">
            <a:avLst>
              <a:gd name="adj" fmla="val 10000"/>
            </a:avLst>
          </a:prstGeom>
          <a:solidFill>
            <a:srgbClr val="16222E"/>
          </a:solidFill>
          <a:ln w="12700">
            <a:solidFill>
              <a:srgbClr val="223240"/>
            </a:solidFill>
            <a:prstDash val="solid"/>
          </a:ln>
        </p:spPr>
      </p:sp>
      <p:sp>
        <p:nvSpPr>
          <p:cNvPr id="16" name="cd-3"/>
          <p:cNvSpPr/>
          <p:nvPr/>
        </p:nvSpPr>
        <p:spPr>
          <a:xfrm>
            <a:off x="914400" y="4901184"/>
            <a:ext cx="347472" cy="347472"/>
          </a:xfrm>
          <a:prstGeom prst="ellipse">
            <a:avLst/>
          </a:prstGeom>
          <a:solidFill>
            <a:schemeClr val="accent1"/>
          </a:solidFill>
          <a:ln w="12700">
            <a:solidFill>
              <a:schemeClr val="accent1"/>
            </a:solidFill>
            <a:prstDash val="solid"/>
          </a:ln>
        </p:spPr>
      </p:sp>
      <p:sp>
        <p:nvSpPr>
          <p:cNvPr id="17" name="Text 15"/>
          <p:cNvSpPr txBox="1"/>
          <p:nvPr/>
        </p:nvSpPr>
        <p:spPr>
          <a:xfrm>
            <a:off x="914400" y="4901184"/>
            <a:ext cx="347472" cy="347472"/>
          </a:xfrm>
          <a:prstGeom prst="rect">
            <a:avLst/>
          </a:prstGeom>
          <a:noFill/>
          <a:ln/>
        </p:spPr>
        <p:txBody>
          <a:bodyPr wrap="square" lIns="0" tIns="0" rIns="0" bIns="0" rtlCol="0" anchor="ctr"/>
          <a:lstStyle/>
          <a:p>
            <a:pPr algn="ctr" indent="0" marL="0">
              <a:buNone/>
            </a:pPr>
            <a:r>
              <a:rPr lang="en-US" sz="1200" b="1" dirty="0">
                <a:solidFill>
                  <a:srgbClr val="0E1620"/>
                </a:solidFill>
              </a:rPr>
              <a:t>4</a:t>
            </a:r>
            <a:endParaRPr lang="en-US" sz="1200" dirty="0"/>
          </a:p>
        </p:txBody>
      </p:sp>
      <p:sp>
        <p:nvSpPr>
          <p:cNvPr id="18" name="Text 16"/>
          <p:cNvSpPr txBox="1"/>
          <p:nvPr/>
        </p:nvSpPr>
        <p:spPr>
          <a:xfrm>
            <a:off x="1508760" y="4791456"/>
            <a:ext cx="9646920" cy="566928"/>
          </a:xfrm>
          <a:prstGeom prst="rect">
            <a:avLst/>
          </a:prstGeom>
          <a:noFill/>
          <a:ln/>
        </p:spPr>
        <p:txBody>
          <a:bodyPr wrap="square" lIns="0" tIns="0" rIns="0" bIns="0" rtlCol="0" anchor="ctr"/>
          <a:lstStyle/>
          <a:p>
            <a:pPr indent="0" marL="0">
              <a:lnSpc>
                <a:spcPct val="110000"/>
              </a:lnSpc>
              <a:buNone/>
            </a:pPr>
            <a:r>
              <a:rPr lang="en-US" sz="1300" dirty="0">
                <a:solidFill>
                  <a:srgbClr val="C9DBE0"/>
                </a:solidFill>
              </a:rPr>
              <a:t>Running the whole stack on a local cluster first made the cloud step a change of target rather than a different project.</a:t>
            </a:r>
            <a:endParaRPr lang="en-US" sz="1300" dirty="0"/>
          </a:p>
        </p:txBody>
      </p:sp>
      <p:sp>
        <p:nvSpPr>
          <p:cNvPr id="19" name="Text 17"/>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400" b="1" dirty="0">
                <a:solidFill>
                  <a:schemeClr val="accent1"/>
                </a:solidFill>
              </a:rPr>
              <a:t>github.com/RAJVEER42/DevOps</a:t>
            </a:r>
            <a:endParaRPr lang="en-US" sz="1400" dirty="0"/>
          </a:p>
        </p:txBody>
      </p:sp>
    </p:spTree>
  </p:cSld>
  <p:clrMapOvr>
    <a:masterClrMapping/>
  </p:clrMapOvr>
</p:sld>
</file>

<file path=ppt/theme/theme1.xml><?xml version="1.0" encoding="utf-8"?>
<a:theme xmlns:a="http://schemas.openxmlformats.org/drawingml/2006/main" name="Issue Tracker Capstone">
  <a:themeElements>
    <a:clrScheme name="Issue Tracker Capstone">
      <a:dk1>
        <a:srgbClr val="0E1620"/>
      </a:dk1>
      <a:lt1>
        <a:srgbClr val="FFFFFF"/>
      </a:lt1>
      <a:dk2>
        <a:srgbClr val="123B45"/>
      </a:dk2>
      <a:lt2>
        <a:srgbClr val="EFF6F7"/>
      </a:lt2>
      <a:accent1>
        <a:srgbClr val="2DD4BF"/>
      </a:accent1>
      <a:accent2>
        <a:srgbClr val="028090"/>
      </a:accent2>
      <a:accent3>
        <a:srgbClr val="00A896"/>
      </a:accent3>
      <a:accent4>
        <a:srgbClr val="E8833A"/>
      </a:accent4>
      <a:accent5>
        <a:srgbClr val="6B7A8F"/>
      </a:accent5>
      <a:accent6>
        <a:srgbClr val="21295C"/>
      </a:accent6>
      <a:hlink>
        <a:srgbClr val="028090"/>
      </a:hlink>
      <a:folHlink>
        <a:srgbClr val="6B7A8F"/>
      </a:folHlink>
    </a:clrScheme>
    <a:fontScheme name="Issue Tracker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DevOps Coursework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Issue Tracker, end to end</dc:title>
  <dc:subject>PptxGenJS Presentation</dc:subject>
  <dc:creator>Rajveer Bishnoi</dc:creator>
  <cp:lastModifiedBy>Rajveer Bishnoi</cp:lastModifiedBy>
  <cp:revision>1</cp:revision>
  <dcterms:created xsi:type="dcterms:W3CDTF">2026-10-21T11:02:22Z</dcterms:created>
  <dcterms:modified xsi:type="dcterms:W3CDTF">2026-10-21T11:02:22Z</dcterms:modified>
</cp:coreProperties>
</file>